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6" r:id="rId3"/>
  </p:sldMasterIdLst>
  <p:sldIdLst>
    <p:sldId id="292" r:id="rId4"/>
    <p:sldId id="256" r:id="rId5"/>
    <p:sldId id="263" r:id="rId6"/>
    <p:sldId id="257" r:id="rId7"/>
    <p:sldId id="287" r:id="rId8"/>
    <p:sldId id="265" r:id="rId9"/>
    <p:sldId id="272" r:id="rId10"/>
    <p:sldId id="273" r:id="rId11"/>
    <p:sldId id="260" r:id="rId12"/>
    <p:sldId id="259" r:id="rId13"/>
    <p:sldId id="267" r:id="rId14"/>
    <p:sldId id="268" r:id="rId15"/>
    <p:sldId id="276" r:id="rId16"/>
    <p:sldId id="277" r:id="rId17"/>
    <p:sldId id="279" r:id="rId18"/>
    <p:sldId id="280" r:id="rId19"/>
    <p:sldId id="302" r:id="rId20"/>
    <p:sldId id="304" r:id="rId21"/>
    <p:sldId id="303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286" r:id="rId30"/>
    <p:sldId id="282" r:id="rId31"/>
    <p:sldId id="312" r:id="rId32"/>
    <p:sldId id="278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662" autoAdjust="0"/>
  </p:normalViewPr>
  <p:slideViewPr>
    <p:cSldViewPr>
      <p:cViewPr varScale="1">
        <p:scale>
          <a:sx n="60" d="100"/>
          <a:sy n="60" d="100"/>
        </p:scale>
        <p:origin x="1388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C191-554D-4D33-8D87-938197DD71F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CBA39-6A1C-4D77-BE93-FF37A6F0D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573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C191-554D-4D33-8D87-938197DD71F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CBA39-6A1C-4D77-BE93-FF37A6F0D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96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C191-554D-4D33-8D87-938197DD71F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CBA39-6A1C-4D77-BE93-FF37A6F0D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23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C191-554D-4D33-8D87-938197DD71F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CBA39-6A1C-4D77-BE93-FF37A6F0D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85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C191-554D-4D33-8D87-938197DD71F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CBA39-6A1C-4D77-BE93-FF37A6F0D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676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C191-554D-4D33-8D87-938197DD71F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CBA39-6A1C-4D77-BE93-FF37A6F0D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052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C191-554D-4D33-8D87-938197DD71F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CBA39-6A1C-4D77-BE93-FF37A6F0D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493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C191-554D-4D33-8D87-938197DD71F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CBA39-6A1C-4D77-BE93-FF37A6F0D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859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C191-554D-4D33-8D87-938197DD71F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CBA39-6A1C-4D77-BE93-FF37A6F0D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30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C191-554D-4D33-8D87-938197DD71F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CBA39-6A1C-4D77-BE93-FF37A6F0D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756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C191-554D-4D33-8D87-938197DD71F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CBA39-6A1C-4D77-BE93-FF37A6F0D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060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1206">
              <a:spcBef>
                <a:spcPts val="194"/>
              </a:spcBef>
            </a:pPr>
            <a:r>
              <a:rPr lang="en-US" spc="-4" smtClean="0"/>
              <a:t>©Copyright </a:t>
            </a:r>
            <a:r>
              <a:rPr lang="en-US" smtClean="0"/>
              <a:t>2004, </a:t>
            </a:r>
            <a:r>
              <a:rPr lang="en-US" spc="-4" smtClean="0"/>
              <a:t>Cognizant Academy, All Rights</a:t>
            </a:r>
            <a:r>
              <a:rPr lang="en-US" spc="31" smtClean="0"/>
              <a:t> </a:t>
            </a:r>
            <a:r>
              <a:rPr lang="en-US" spc="-4" smtClean="0"/>
              <a:t>Reserved</a:t>
            </a:r>
            <a:endParaRPr lang="en-US" spc="-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82928">
              <a:spcBef>
                <a:spcPts val="194"/>
              </a:spcBef>
            </a:pPr>
            <a:fld id="{81D60167-4931-47E6-BA6A-407CBD079E47}" type="slidenum">
              <a:rPr lang="en-IN" smtClean="0"/>
              <a:pPr marL="82928">
                <a:spcBef>
                  <a:spcPts val="194"/>
                </a:spcBef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7895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1365" y="490367"/>
            <a:ext cx="6921269" cy="434606"/>
          </a:xfrm>
        </p:spPr>
        <p:txBody>
          <a:bodyPr lIns="0" tIns="0" rIns="0" bIns="0"/>
          <a:lstStyle>
            <a:lvl1pPr>
              <a:defRPr sz="2824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6455" y="1465956"/>
            <a:ext cx="5405005" cy="244362"/>
          </a:xfrm>
        </p:spPr>
        <p:txBody>
          <a:bodyPr lIns="0" tIns="0" rIns="0" bIns="0"/>
          <a:lstStyle>
            <a:lvl1pPr>
              <a:defRPr sz="1588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1206">
              <a:spcBef>
                <a:spcPts val="194"/>
              </a:spcBef>
            </a:pPr>
            <a:r>
              <a:rPr lang="en-US" spc="-4" smtClean="0"/>
              <a:t>©Copyright </a:t>
            </a:r>
            <a:r>
              <a:rPr lang="en-US" smtClean="0"/>
              <a:t>2004, </a:t>
            </a:r>
            <a:r>
              <a:rPr lang="en-US" spc="-4" smtClean="0"/>
              <a:t>Cognizant Academy, All Rights</a:t>
            </a:r>
            <a:r>
              <a:rPr lang="en-US" spc="31" smtClean="0"/>
              <a:t> </a:t>
            </a:r>
            <a:r>
              <a:rPr lang="en-US" spc="-4" smtClean="0"/>
              <a:t>Reserved</a:t>
            </a:r>
            <a:endParaRPr lang="en-US" spc="-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82928">
              <a:spcBef>
                <a:spcPts val="194"/>
              </a:spcBef>
            </a:pPr>
            <a:fld id="{81D60167-4931-47E6-BA6A-407CBD079E47}" type="slidenum">
              <a:rPr lang="en-IN" smtClean="0"/>
              <a:pPr marL="82928">
                <a:spcBef>
                  <a:spcPts val="194"/>
                </a:spcBef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2922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15633" y="403408"/>
            <a:ext cx="8104909" cy="201706"/>
          </a:xfrm>
          <a:custGeom>
            <a:avLst/>
            <a:gdLst/>
            <a:ahLst/>
            <a:cxnLst/>
            <a:rect l="l" t="t" r="r" b="b"/>
            <a:pathLst>
              <a:path w="8915400" h="228600">
                <a:moveTo>
                  <a:pt x="0" y="228600"/>
                </a:moveTo>
                <a:lnTo>
                  <a:pt x="8915403" y="228600"/>
                </a:lnTo>
                <a:lnTo>
                  <a:pt x="8915403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CCEC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bk object 17"/>
          <p:cNvSpPr/>
          <p:nvPr/>
        </p:nvSpPr>
        <p:spPr>
          <a:xfrm>
            <a:off x="415633" y="6252882"/>
            <a:ext cx="8312727" cy="201706"/>
          </a:xfrm>
          <a:custGeom>
            <a:avLst/>
            <a:gdLst/>
            <a:ahLst/>
            <a:cxnLst/>
            <a:rect l="l" t="t" r="r" b="b"/>
            <a:pathLst>
              <a:path w="9144000" h="228600">
                <a:moveTo>
                  <a:pt x="0" y="0"/>
                </a:moveTo>
                <a:lnTo>
                  <a:pt x="0" y="228600"/>
                </a:lnTo>
                <a:lnTo>
                  <a:pt x="9144000" y="22860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98CC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8" name="bk object 18"/>
          <p:cNvSpPr/>
          <p:nvPr/>
        </p:nvSpPr>
        <p:spPr>
          <a:xfrm>
            <a:off x="415633" y="6118412"/>
            <a:ext cx="8104909" cy="134471"/>
          </a:xfrm>
          <a:custGeom>
            <a:avLst/>
            <a:gdLst/>
            <a:ahLst/>
            <a:cxnLst/>
            <a:rect l="l" t="t" r="r" b="b"/>
            <a:pathLst>
              <a:path w="8915400" h="152400">
                <a:moveTo>
                  <a:pt x="0" y="152400"/>
                </a:moveTo>
                <a:lnTo>
                  <a:pt x="8915403" y="152400"/>
                </a:lnTo>
                <a:lnTo>
                  <a:pt x="8915403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CCEC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bk object 19"/>
          <p:cNvSpPr/>
          <p:nvPr/>
        </p:nvSpPr>
        <p:spPr>
          <a:xfrm>
            <a:off x="8520546" y="403408"/>
            <a:ext cx="207818" cy="5849471"/>
          </a:xfrm>
          <a:custGeom>
            <a:avLst/>
            <a:gdLst/>
            <a:ahLst/>
            <a:cxnLst/>
            <a:rect l="l" t="t" r="r" b="b"/>
            <a:pathLst>
              <a:path w="228600" h="6629400">
                <a:moveTo>
                  <a:pt x="0" y="0"/>
                </a:moveTo>
                <a:lnTo>
                  <a:pt x="0" y="6629400"/>
                </a:lnTo>
                <a:lnTo>
                  <a:pt x="228600" y="6629400"/>
                </a:lnTo>
                <a:lnTo>
                  <a:pt x="228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EC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2" name="bk object 22"/>
          <p:cNvSpPr/>
          <p:nvPr/>
        </p:nvSpPr>
        <p:spPr>
          <a:xfrm>
            <a:off x="985057" y="1177963"/>
            <a:ext cx="12700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3" name="bk object 23"/>
          <p:cNvSpPr/>
          <p:nvPr/>
        </p:nvSpPr>
        <p:spPr>
          <a:xfrm>
            <a:off x="985057" y="1181997"/>
            <a:ext cx="12700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bk object 25"/>
          <p:cNvSpPr/>
          <p:nvPr/>
        </p:nvSpPr>
        <p:spPr>
          <a:xfrm>
            <a:off x="415633" y="1411941"/>
            <a:ext cx="7412182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2" y="0"/>
                </a:lnTo>
              </a:path>
            </a:pathLst>
          </a:custGeom>
          <a:ln w="76199">
            <a:solidFill>
              <a:srgbClr val="CCECF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6" name="bk object 26"/>
          <p:cNvSpPr/>
          <p:nvPr/>
        </p:nvSpPr>
        <p:spPr>
          <a:xfrm>
            <a:off x="415633" y="1479176"/>
            <a:ext cx="7550727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2" y="0"/>
                </a:lnTo>
              </a:path>
            </a:pathLst>
          </a:custGeom>
          <a:ln w="76199">
            <a:solidFill>
              <a:srgbClr val="98CCF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9" name="bk object 29"/>
          <p:cNvSpPr/>
          <p:nvPr/>
        </p:nvSpPr>
        <p:spPr>
          <a:xfrm>
            <a:off x="1359823" y="1774339"/>
            <a:ext cx="450273" cy="4457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bk object 30"/>
          <p:cNvSpPr/>
          <p:nvPr/>
        </p:nvSpPr>
        <p:spPr>
          <a:xfrm>
            <a:off x="1413856" y="3723490"/>
            <a:ext cx="477289" cy="4807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1" name="bk object 31"/>
          <p:cNvSpPr/>
          <p:nvPr/>
        </p:nvSpPr>
        <p:spPr>
          <a:xfrm>
            <a:off x="1444335" y="4550484"/>
            <a:ext cx="467591" cy="5271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2" name="bk object 32"/>
          <p:cNvSpPr/>
          <p:nvPr/>
        </p:nvSpPr>
        <p:spPr>
          <a:xfrm>
            <a:off x="4875413" y="4574688"/>
            <a:ext cx="511233" cy="5082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3" name="bk object 33"/>
          <p:cNvSpPr/>
          <p:nvPr/>
        </p:nvSpPr>
        <p:spPr>
          <a:xfrm>
            <a:off x="1363287" y="2689412"/>
            <a:ext cx="509847" cy="5701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4" name="bk object 34"/>
          <p:cNvSpPr/>
          <p:nvPr/>
        </p:nvSpPr>
        <p:spPr>
          <a:xfrm>
            <a:off x="4754879" y="3623310"/>
            <a:ext cx="576349" cy="5714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1365" y="490367"/>
            <a:ext cx="6921269" cy="434606"/>
          </a:xfrm>
        </p:spPr>
        <p:txBody>
          <a:bodyPr lIns="0" tIns="0" rIns="0" bIns="0"/>
          <a:lstStyle>
            <a:lvl1pPr>
              <a:defRPr sz="2824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1206">
              <a:spcBef>
                <a:spcPts val="194"/>
              </a:spcBef>
            </a:pPr>
            <a:r>
              <a:rPr lang="en-US" spc="-4" smtClean="0"/>
              <a:t>©Copyright </a:t>
            </a:r>
            <a:r>
              <a:rPr lang="en-US" smtClean="0"/>
              <a:t>2004, </a:t>
            </a:r>
            <a:r>
              <a:rPr lang="en-US" spc="-4" smtClean="0"/>
              <a:t>Cognizant Academy, All Rights</a:t>
            </a:r>
            <a:r>
              <a:rPr lang="en-US" spc="31" smtClean="0"/>
              <a:t> </a:t>
            </a:r>
            <a:r>
              <a:rPr lang="en-US" spc="-4" smtClean="0"/>
              <a:t>Reserved</a:t>
            </a:r>
            <a:endParaRPr lang="en-US" spc="-4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82928">
              <a:spcBef>
                <a:spcPts val="194"/>
              </a:spcBef>
            </a:pPr>
            <a:fld id="{81D60167-4931-47E6-BA6A-407CBD079E47}" type="slidenum">
              <a:rPr lang="en-IN" smtClean="0"/>
              <a:pPr marL="82928">
                <a:spcBef>
                  <a:spcPts val="194"/>
                </a:spcBef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1206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1365" y="490367"/>
            <a:ext cx="6921269" cy="434606"/>
          </a:xfrm>
        </p:spPr>
        <p:txBody>
          <a:bodyPr lIns="0" tIns="0" rIns="0" bIns="0"/>
          <a:lstStyle>
            <a:lvl1pPr>
              <a:defRPr sz="2824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1206">
              <a:spcBef>
                <a:spcPts val="194"/>
              </a:spcBef>
            </a:pPr>
            <a:r>
              <a:rPr lang="en-US" spc="-4" smtClean="0"/>
              <a:t>©Copyright </a:t>
            </a:r>
            <a:r>
              <a:rPr lang="en-US" smtClean="0"/>
              <a:t>2004, </a:t>
            </a:r>
            <a:r>
              <a:rPr lang="en-US" spc="-4" smtClean="0"/>
              <a:t>Cognizant Academy, All Rights</a:t>
            </a:r>
            <a:r>
              <a:rPr lang="en-US" spc="31" smtClean="0"/>
              <a:t> </a:t>
            </a:r>
            <a:r>
              <a:rPr lang="en-US" spc="-4" smtClean="0"/>
              <a:t>Reserved</a:t>
            </a:r>
            <a:endParaRPr lang="en-US" spc="-4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82928">
              <a:spcBef>
                <a:spcPts val="194"/>
              </a:spcBef>
            </a:pPr>
            <a:fld id="{81D60167-4931-47E6-BA6A-407CBD079E47}" type="slidenum">
              <a:rPr lang="en-IN" smtClean="0"/>
              <a:pPr marL="82928">
                <a:spcBef>
                  <a:spcPts val="194"/>
                </a:spcBef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4001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15633" y="403412"/>
            <a:ext cx="8312727" cy="6051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1206">
              <a:spcBef>
                <a:spcPts val="194"/>
              </a:spcBef>
            </a:pPr>
            <a:r>
              <a:rPr lang="en-US" spc="-4" smtClean="0"/>
              <a:t>©Copyright </a:t>
            </a:r>
            <a:r>
              <a:rPr lang="en-US" smtClean="0"/>
              <a:t>2004, </a:t>
            </a:r>
            <a:r>
              <a:rPr lang="en-US" spc="-4" smtClean="0"/>
              <a:t>Cognizant Academy, All Rights</a:t>
            </a:r>
            <a:r>
              <a:rPr lang="en-US" spc="31" smtClean="0"/>
              <a:t> </a:t>
            </a:r>
            <a:r>
              <a:rPr lang="en-US" spc="-4" smtClean="0"/>
              <a:t>Reserved</a:t>
            </a:r>
            <a:endParaRPr lang="en-US" spc="-4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82928">
              <a:spcBef>
                <a:spcPts val="194"/>
              </a:spcBef>
            </a:pPr>
            <a:fld id="{81D60167-4931-47E6-BA6A-407CBD079E47}" type="slidenum">
              <a:rPr lang="en-IN" smtClean="0"/>
              <a:pPr marL="82928">
                <a:spcBef>
                  <a:spcPts val="194"/>
                </a:spcBef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0609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1206">
              <a:spcBef>
                <a:spcPts val="194"/>
              </a:spcBef>
            </a:pPr>
            <a:r>
              <a:rPr lang="en-US" spc="-4" smtClean="0"/>
              <a:t>©Copyright </a:t>
            </a:r>
            <a:r>
              <a:rPr lang="en-US" smtClean="0"/>
              <a:t>2004, </a:t>
            </a:r>
            <a:r>
              <a:rPr lang="en-US" spc="-4" smtClean="0"/>
              <a:t>Cognizant Academy, All Rights</a:t>
            </a:r>
            <a:r>
              <a:rPr lang="en-US" spc="31" smtClean="0"/>
              <a:t> </a:t>
            </a:r>
            <a:r>
              <a:rPr lang="en-US" spc="-4" smtClean="0"/>
              <a:t>Reserved</a:t>
            </a:r>
            <a:endParaRPr lang="en-US" spc="-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82928">
              <a:spcBef>
                <a:spcPts val="194"/>
              </a:spcBef>
            </a:pPr>
            <a:fld id="{81D60167-4931-47E6-BA6A-407CBD079E47}" type="slidenum">
              <a:rPr lang="en-IN" smtClean="0"/>
              <a:pPr marL="82928">
                <a:spcBef>
                  <a:spcPts val="194"/>
                </a:spcBef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74517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1365" y="786205"/>
            <a:ext cx="6921269" cy="434606"/>
          </a:xfrm>
        </p:spPr>
        <p:txBody>
          <a:bodyPr lIns="0" tIns="0" rIns="0" bIns="0"/>
          <a:lstStyle>
            <a:lvl1pPr>
              <a:defRPr sz="2824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6455" y="1539243"/>
            <a:ext cx="3678958" cy="244362"/>
          </a:xfrm>
        </p:spPr>
        <p:txBody>
          <a:bodyPr lIns="0" tIns="0" rIns="0" bIns="0"/>
          <a:lstStyle>
            <a:lvl1pPr>
              <a:defRPr sz="1588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1206">
              <a:spcBef>
                <a:spcPts val="194"/>
              </a:spcBef>
            </a:pPr>
            <a:r>
              <a:rPr lang="en-US" spc="-4" smtClean="0"/>
              <a:t>©Copyright </a:t>
            </a:r>
            <a:r>
              <a:rPr lang="en-US" smtClean="0"/>
              <a:t>2004, </a:t>
            </a:r>
            <a:r>
              <a:rPr lang="en-US" spc="-4" smtClean="0"/>
              <a:t>Cognizant Academy, All Rights</a:t>
            </a:r>
            <a:r>
              <a:rPr lang="en-US" spc="31" smtClean="0"/>
              <a:t> </a:t>
            </a:r>
            <a:r>
              <a:rPr lang="en-US" spc="-4" smtClean="0"/>
              <a:t>Reserved</a:t>
            </a:r>
            <a:endParaRPr lang="en-US" spc="-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82928">
              <a:spcBef>
                <a:spcPts val="194"/>
              </a:spcBef>
            </a:pPr>
            <a:fld id="{81D60167-4931-47E6-BA6A-407CBD079E47}" type="slidenum">
              <a:rPr lang="en-IN" smtClean="0"/>
              <a:pPr marL="82928">
                <a:spcBef>
                  <a:spcPts val="194"/>
                </a:spcBef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25239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15633" y="403408"/>
            <a:ext cx="8104909" cy="201706"/>
          </a:xfrm>
          <a:custGeom>
            <a:avLst/>
            <a:gdLst/>
            <a:ahLst/>
            <a:cxnLst/>
            <a:rect l="l" t="t" r="r" b="b"/>
            <a:pathLst>
              <a:path w="8915400" h="228600">
                <a:moveTo>
                  <a:pt x="0" y="228600"/>
                </a:moveTo>
                <a:lnTo>
                  <a:pt x="8915403" y="228600"/>
                </a:lnTo>
                <a:lnTo>
                  <a:pt x="8915403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CCEC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bk object 17"/>
          <p:cNvSpPr/>
          <p:nvPr/>
        </p:nvSpPr>
        <p:spPr>
          <a:xfrm>
            <a:off x="415633" y="6252882"/>
            <a:ext cx="8312727" cy="201706"/>
          </a:xfrm>
          <a:custGeom>
            <a:avLst/>
            <a:gdLst/>
            <a:ahLst/>
            <a:cxnLst/>
            <a:rect l="l" t="t" r="r" b="b"/>
            <a:pathLst>
              <a:path w="9144000" h="228600">
                <a:moveTo>
                  <a:pt x="0" y="0"/>
                </a:moveTo>
                <a:lnTo>
                  <a:pt x="0" y="228600"/>
                </a:lnTo>
                <a:lnTo>
                  <a:pt x="9144000" y="22860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98CC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8" name="bk object 18"/>
          <p:cNvSpPr/>
          <p:nvPr/>
        </p:nvSpPr>
        <p:spPr>
          <a:xfrm>
            <a:off x="415633" y="6118412"/>
            <a:ext cx="8104909" cy="134471"/>
          </a:xfrm>
          <a:custGeom>
            <a:avLst/>
            <a:gdLst/>
            <a:ahLst/>
            <a:cxnLst/>
            <a:rect l="l" t="t" r="r" b="b"/>
            <a:pathLst>
              <a:path w="8915400" h="152400">
                <a:moveTo>
                  <a:pt x="0" y="152400"/>
                </a:moveTo>
                <a:lnTo>
                  <a:pt x="8915403" y="152400"/>
                </a:lnTo>
                <a:lnTo>
                  <a:pt x="8915403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CCEC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bk object 19"/>
          <p:cNvSpPr/>
          <p:nvPr/>
        </p:nvSpPr>
        <p:spPr>
          <a:xfrm>
            <a:off x="8520546" y="403408"/>
            <a:ext cx="207818" cy="5849471"/>
          </a:xfrm>
          <a:custGeom>
            <a:avLst/>
            <a:gdLst/>
            <a:ahLst/>
            <a:cxnLst/>
            <a:rect l="l" t="t" r="r" b="b"/>
            <a:pathLst>
              <a:path w="228600" h="6629400">
                <a:moveTo>
                  <a:pt x="0" y="0"/>
                </a:moveTo>
                <a:lnTo>
                  <a:pt x="0" y="6629400"/>
                </a:lnTo>
                <a:lnTo>
                  <a:pt x="228600" y="6629400"/>
                </a:lnTo>
                <a:lnTo>
                  <a:pt x="228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EC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2" name="bk object 22"/>
          <p:cNvSpPr/>
          <p:nvPr/>
        </p:nvSpPr>
        <p:spPr>
          <a:xfrm>
            <a:off x="985057" y="1177963"/>
            <a:ext cx="12700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3" name="bk object 23"/>
          <p:cNvSpPr/>
          <p:nvPr/>
        </p:nvSpPr>
        <p:spPr>
          <a:xfrm>
            <a:off x="985057" y="1181997"/>
            <a:ext cx="12700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bk object 25"/>
          <p:cNvSpPr/>
          <p:nvPr/>
        </p:nvSpPr>
        <p:spPr>
          <a:xfrm>
            <a:off x="415633" y="1411941"/>
            <a:ext cx="7412182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2" y="0"/>
                </a:lnTo>
              </a:path>
            </a:pathLst>
          </a:custGeom>
          <a:ln w="76199">
            <a:solidFill>
              <a:srgbClr val="CCECF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6" name="bk object 26"/>
          <p:cNvSpPr/>
          <p:nvPr/>
        </p:nvSpPr>
        <p:spPr>
          <a:xfrm>
            <a:off x="415633" y="1479176"/>
            <a:ext cx="7550727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2" y="0"/>
                </a:lnTo>
              </a:path>
            </a:pathLst>
          </a:custGeom>
          <a:ln w="76199">
            <a:solidFill>
              <a:srgbClr val="98CCF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9" name="bk object 29"/>
          <p:cNvSpPr/>
          <p:nvPr/>
        </p:nvSpPr>
        <p:spPr>
          <a:xfrm>
            <a:off x="1359823" y="1774339"/>
            <a:ext cx="450273" cy="4457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bk object 30"/>
          <p:cNvSpPr/>
          <p:nvPr/>
        </p:nvSpPr>
        <p:spPr>
          <a:xfrm>
            <a:off x="1413856" y="3723490"/>
            <a:ext cx="477289" cy="4807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1" name="bk object 31"/>
          <p:cNvSpPr/>
          <p:nvPr/>
        </p:nvSpPr>
        <p:spPr>
          <a:xfrm>
            <a:off x="1444335" y="4550484"/>
            <a:ext cx="467591" cy="5271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2" name="bk object 32"/>
          <p:cNvSpPr/>
          <p:nvPr/>
        </p:nvSpPr>
        <p:spPr>
          <a:xfrm>
            <a:off x="4875413" y="4574688"/>
            <a:ext cx="511233" cy="5082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3" name="bk object 33"/>
          <p:cNvSpPr/>
          <p:nvPr/>
        </p:nvSpPr>
        <p:spPr>
          <a:xfrm>
            <a:off x="1363287" y="2689412"/>
            <a:ext cx="509847" cy="5701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4" name="bk object 34"/>
          <p:cNvSpPr/>
          <p:nvPr/>
        </p:nvSpPr>
        <p:spPr>
          <a:xfrm>
            <a:off x="4754879" y="3623310"/>
            <a:ext cx="576349" cy="5714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1365" y="786205"/>
            <a:ext cx="6921269" cy="434606"/>
          </a:xfrm>
        </p:spPr>
        <p:txBody>
          <a:bodyPr lIns="0" tIns="0" rIns="0" bIns="0"/>
          <a:lstStyle>
            <a:lvl1pPr>
              <a:defRPr sz="2824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1206">
              <a:spcBef>
                <a:spcPts val="194"/>
              </a:spcBef>
            </a:pPr>
            <a:r>
              <a:rPr lang="en-US" spc="-4" smtClean="0"/>
              <a:t>©Copyright </a:t>
            </a:r>
            <a:r>
              <a:rPr lang="en-US" smtClean="0"/>
              <a:t>2004, </a:t>
            </a:r>
            <a:r>
              <a:rPr lang="en-US" spc="-4" smtClean="0"/>
              <a:t>Cognizant Academy, All Rights</a:t>
            </a:r>
            <a:r>
              <a:rPr lang="en-US" spc="31" smtClean="0"/>
              <a:t> </a:t>
            </a:r>
            <a:r>
              <a:rPr lang="en-US" spc="-4" smtClean="0"/>
              <a:t>Reserved</a:t>
            </a:r>
            <a:endParaRPr lang="en-US" spc="-4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82928">
              <a:spcBef>
                <a:spcPts val="194"/>
              </a:spcBef>
            </a:pPr>
            <a:fld id="{81D60167-4931-47E6-BA6A-407CBD079E47}" type="slidenum">
              <a:rPr lang="en-IN" smtClean="0"/>
              <a:pPr marL="82928">
                <a:spcBef>
                  <a:spcPts val="194"/>
                </a:spcBef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70321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1365" y="786205"/>
            <a:ext cx="6921269" cy="434606"/>
          </a:xfrm>
        </p:spPr>
        <p:txBody>
          <a:bodyPr lIns="0" tIns="0" rIns="0" bIns="0"/>
          <a:lstStyle>
            <a:lvl1pPr>
              <a:defRPr sz="2824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1206">
              <a:spcBef>
                <a:spcPts val="194"/>
              </a:spcBef>
            </a:pPr>
            <a:r>
              <a:rPr lang="en-US" spc="-4" smtClean="0"/>
              <a:t>©Copyright </a:t>
            </a:r>
            <a:r>
              <a:rPr lang="en-US" smtClean="0"/>
              <a:t>2004, </a:t>
            </a:r>
            <a:r>
              <a:rPr lang="en-US" spc="-4" smtClean="0"/>
              <a:t>Cognizant Academy, All Rights</a:t>
            </a:r>
            <a:r>
              <a:rPr lang="en-US" spc="31" smtClean="0"/>
              <a:t> </a:t>
            </a:r>
            <a:r>
              <a:rPr lang="en-US" spc="-4" smtClean="0"/>
              <a:t>Reserved</a:t>
            </a:r>
            <a:endParaRPr lang="en-US" spc="-4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82928">
              <a:spcBef>
                <a:spcPts val="194"/>
              </a:spcBef>
            </a:pPr>
            <a:fld id="{81D60167-4931-47E6-BA6A-407CBD079E47}" type="slidenum">
              <a:rPr lang="en-IN" smtClean="0"/>
              <a:pPr marL="82928">
                <a:spcBef>
                  <a:spcPts val="194"/>
                </a:spcBef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96417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15633" y="403412"/>
            <a:ext cx="8312727" cy="6051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1206">
              <a:spcBef>
                <a:spcPts val="194"/>
              </a:spcBef>
            </a:pPr>
            <a:r>
              <a:rPr lang="en-US" spc="-4" smtClean="0"/>
              <a:t>©Copyright </a:t>
            </a:r>
            <a:r>
              <a:rPr lang="en-US" smtClean="0"/>
              <a:t>2004, </a:t>
            </a:r>
            <a:r>
              <a:rPr lang="en-US" spc="-4" smtClean="0"/>
              <a:t>Cognizant Academy, All Rights</a:t>
            </a:r>
            <a:r>
              <a:rPr lang="en-US" spc="31" smtClean="0"/>
              <a:t> </a:t>
            </a:r>
            <a:r>
              <a:rPr lang="en-US" spc="-4" smtClean="0"/>
              <a:t>Reserved</a:t>
            </a:r>
            <a:endParaRPr lang="en-US" spc="-4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82928">
              <a:spcBef>
                <a:spcPts val="194"/>
              </a:spcBef>
            </a:pPr>
            <a:fld id="{81D60167-4931-47E6-BA6A-407CBD079E47}" type="slidenum">
              <a:rPr lang="en-IN" smtClean="0"/>
              <a:pPr marL="82928">
                <a:spcBef>
                  <a:spcPts val="194"/>
                </a:spcBef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2241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4C191-554D-4D33-8D87-938197DD71F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CBA39-6A1C-4D77-BE93-FF37A6F0D7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860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15633" y="403408"/>
            <a:ext cx="8104909" cy="201706"/>
          </a:xfrm>
          <a:custGeom>
            <a:avLst/>
            <a:gdLst/>
            <a:ahLst/>
            <a:cxnLst/>
            <a:rect l="l" t="t" r="r" b="b"/>
            <a:pathLst>
              <a:path w="8915400" h="228600">
                <a:moveTo>
                  <a:pt x="0" y="228600"/>
                </a:moveTo>
                <a:lnTo>
                  <a:pt x="8915403" y="228600"/>
                </a:lnTo>
                <a:lnTo>
                  <a:pt x="8915403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CCEC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bk object 17"/>
          <p:cNvSpPr/>
          <p:nvPr/>
        </p:nvSpPr>
        <p:spPr>
          <a:xfrm>
            <a:off x="415633" y="6252882"/>
            <a:ext cx="8312727" cy="201706"/>
          </a:xfrm>
          <a:custGeom>
            <a:avLst/>
            <a:gdLst/>
            <a:ahLst/>
            <a:cxnLst/>
            <a:rect l="l" t="t" r="r" b="b"/>
            <a:pathLst>
              <a:path w="9144000" h="228600">
                <a:moveTo>
                  <a:pt x="0" y="0"/>
                </a:moveTo>
                <a:lnTo>
                  <a:pt x="0" y="228600"/>
                </a:lnTo>
                <a:lnTo>
                  <a:pt x="9144000" y="22860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98CC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8" name="bk object 18"/>
          <p:cNvSpPr/>
          <p:nvPr/>
        </p:nvSpPr>
        <p:spPr>
          <a:xfrm>
            <a:off x="415633" y="6118412"/>
            <a:ext cx="8104909" cy="134471"/>
          </a:xfrm>
          <a:custGeom>
            <a:avLst/>
            <a:gdLst/>
            <a:ahLst/>
            <a:cxnLst/>
            <a:rect l="l" t="t" r="r" b="b"/>
            <a:pathLst>
              <a:path w="8915400" h="152400">
                <a:moveTo>
                  <a:pt x="0" y="152400"/>
                </a:moveTo>
                <a:lnTo>
                  <a:pt x="8915403" y="152400"/>
                </a:lnTo>
                <a:lnTo>
                  <a:pt x="8915403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CCEC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bk object 19"/>
          <p:cNvSpPr/>
          <p:nvPr/>
        </p:nvSpPr>
        <p:spPr>
          <a:xfrm>
            <a:off x="8520546" y="403408"/>
            <a:ext cx="207818" cy="5849471"/>
          </a:xfrm>
          <a:custGeom>
            <a:avLst/>
            <a:gdLst/>
            <a:ahLst/>
            <a:cxnLst/>
            <a:rect l="l" t="t" r="r" b="b"/>
            <a:pathLst>
              <a:path w="228600" h="6629400">
                <a:moveTo>
                  <a:pt x="0" y="0"/>
                </a:moveTo>
                <a:lnTo>
                  <a:pt x="0" y="6629400"/>
                </a:lnTo>
                <a:lnTo>
                  <a:pt x="228600" y="6629400"/>
                </a:lnTo>
                <a:lnTo>
                  <a:pt x="228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EC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1365" y="490367"/>
            <a:ext cx="6921269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6455" y="1465956"/>
            <a:ext cx="540500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03547" y="6194349"/>
            <a:ext cx="3818659" cy="1629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1206">
              <a:spcBef>
                <a:spcPts val="194"/>
              </a:spcBef>
            </a:pPr>
            <a:r>
              <a:rPr lang="en-US" spc="-4" smtClean="0"/>
              <a:t>©Copyright </a:t>
            </a:r>
            <a:r>
              <a:rPr lang="en-US" smtClean="0"/>
              <a:t>2004, </a:t>
            </a:r>
            <a:r>
              <a:rPr lang="en-US" spc="-4" smtClean="0"/>
              <a:t>Cognizant Academy, All Rights</a:t>
            </a:r>
            <a:r>
              <a:rPr lang="en-US" spc="31" smtClean="0"/>
              <a:t> </a:t>
            </a:r>
            <a:r>
              <a:rPr lang="en-US" spc="-4" smtClean="0"/>
              <a:t>Reserved</a:t>
            </a:r>
            <a:endParaRPr lang="en-US" spc="-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989699" y="6194348"/>
            <a:ext cx="193386" cy="488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82928">
              <a:spcBef>
                <a:spcPts val="194"/>
              </a:spcBef>
            </a:pPr>
            <a:fld id="{81D60167-4931-47E6-BA6A-407CBD079E47}" type="slidenum">
              <a:rPr lang="en-IN" smtClean="0"/>
              <a:pPr marL="82928">
                <a:spcBef>
                  <a:spcPts val="194"/>
                </a:spcBef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0921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15633" y="403408"/>
            <a:ext cx="8104909" cy="201706"/>
          </a:xfrm>
          <a:custGeom>
            <a:avLst/>
            <a:gdLst/>
            <a:ahLst/>
            <a:cxnLst/>
            <a:rect l="l" t="t" r="r" b="b"/>
            <a:pathLst>
              <a:path w="8915400" h="228600">
                <a:moveTo>
                  <a:pt x="0" y="228600"/>
                </a:moveTo>
                <a:lnTo>
                  <a:pt x="8915403" y="228600"/>
                </a:lnTo>
                <a:lnTo>
                  <a:pt x="8915403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CCEC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bk object 17"/>
          <p:cNvSpPr/>
          <p:nvPr/>
        </p:nvSpPr>
        <p:spPr>
          <a:xfrm>
            <a:off x="415633" y="6252882"/>
            <a:ext cx="8312727" cy="201706"/>
          </a:xfrm>
          <a:custGeom>
            <a:avLst/>
            <a:gdLst/>
            <a:ahLst/>
            <a:cxnLst/>
            <a:rect l="l" t="t" r="r" b="b"/>
            <a:pathLst>
              <a:path w="9144000" h="228600">
                <a:moveTo>
                  <a:pt x="0" y="0"/>
                </a:moveTo>
                <a:lnTo>
                  <a:pt x="0" y="228600"/>
                </a:lnTo>
                <a:lnTo>
                  <a:pt x="9144000" y="22860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98CC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8" name="bk object 18"/>
          <p:cNvSpPr/>
          <p:nvPr/>
        </p:nvSpPr>
        <p:spPr>
          <a:xfrm>
            <a:off x="415633" y="6118412"/>
            <a:ext cx="8104909" cy="134471"/>
          </a:xfrm>
          <a:custGeom>
            <a:avLst/>
            <a:gdLst/>
            <a:ahLst/>
            <a:cxnLst/>
            <a:rect l="l" t="t" r="r" b="b"/>
            <a:pathLst>
              <a:path w="8915400" h="152400">
                <a:moveTo>
                  <a:pt x="0" y="152400"/>
                </a:moveTo>
                <a:lnTo>
                  <a:pt x="8915403" y="152400"/>
                </a:lnTo>
                <a:lnTo>
                  <a:pt x="8915403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CCEC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bk object 19"/>
          <p:cNvSpPr/>
          <p:nvPr/>
        </p:nvSpPr>
        <p:spPr>
          <a:xfrm>
            <a:off x="8520546" y="403408"/>
            <a:ext cx="207818" cy="5849471"/>
          </a:xfrm>
          <a:custGeom>
            <a:avLst/>
            <a:gdLst/>
            <a:ahLst/>
            <a:cxnLst/>
            <a:rect l="l" t="t" r="r" b="b"/>
            <a:pathLst>
              <a:path w="228600" h="6629400">
                <a:moveTo>
                  <a:pt x="0" y="0"/>
                </a:moveTo>
                <a:lnTo>
                  <a:pt x="0" y="6629400"/>
                </a:lnTo>
                <a:lnTo>
                  <a:pt x="228600" y="6629400"/>
                </a:lnTo>
                <a:lnTo>
                  <a:pt x="228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EC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1365" y="786205"/>
            <a:ext cx="6921269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6455" y="1539243"/>
            <a:ext cx="367895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03547" y="6194349"/>
            <a:ext cx="3818659" cy="1629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1206">
              <a:spcBef>
                <a:spcPts val="194"/>
              </a:spcBef>
            </a:pPr>
            <a:r>
              <a:rPr lang="en-US" spc="-4" smtClean="0"/>
              <a:t>©Copyright </a:t>
            </a:r>
            <a:r>
              <a:rPr lang="en-US" smtClean="0"/>
              <a:t>2004, </a:t>
            </a:r>
            <a:r>
              <a:rPr lang="en-US" spc="-4" smtClean="0"/>
              <a:t>Cognizant Academy, All Rights</a:t>
            </a:r>
            <a:r>
              <a:rPr lang="en-US" spc="31" smtClean="0"/>
              <a:t> </a:t>
            </a:r>
            <a:r>
              <a:rPr lang="en-US" spc="-4" smtClean="0"/>
              <a:t>Reserved</a:t>
            </a:r>
            <a:endParaRPr lang="en-US" spc="-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989699" y="6194348"/>
            <a:ext cx="193386" cy="488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9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82928">
              <a:spcBef>
                <a:spcPts val="194"/>
              </a:spcBef>
            </a:pPr>
            <a:fld id="{81D60167-4931-47E6-BA6A-407CBD079E47}" type="slidenum">
              <a:rPr lang="en-IN" smtClean="0"/>
              <a:pPr marL="82928">
                <a:spcBef>
                  <a:spcPts val="194"/>
                </a:spcBef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325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iming>
    <p:tnLst>
      <p:par>
        <p:cTn id="1" dur="indefinite" restart="never" nodeType="tmRoot"/>
      </p:par>
    </p:tnLst>
  </p:timing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37879" y="1411941"/>
            <a:ext cx="7194176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2" y="0"/>
                </a:lnTo>
              </a:path>
            </a:pathLst>
          </a:custGeom>
          <a:ln w="76199">
            <a:solidFill>
              <a:srgbClr val="CCECF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/>
          <p:nvPr/>
        </p:nvSpPr>
        <p:spPr>
          <a:xfrm>
            <a:off x="537879" y="1479176"/>
            <a:ext cx="7328647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2" y="0"/>
                </a:lnTo>
              </a:path>
            </a:pathLst>
          </a:custGeom>
          <a:ln w="76199">
            <a:solidFill>
              <a:srgbClr val="98CCF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13148" y="30514"/>
            <a:ext cx="6717702" cy="1364967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 marR="4483">
              <a:spcBef>
                <a:spcPts val="84"/>
              </a:spcBef>
            </a:pPr>
            <a:r>
              <a:rPr spc="-4" dirty="0"/>
              <a:t>Procedures, Functions:</a:t>
            </a:r>
            <a:r>
              <a:rPr spc="-9" dirty="0"/>
              <a:t> </a:t>
            </a:r>
            <a:r>
              <a:rPr spc="-4" dirty="0"/>
              <a:t>Overview</a:t>
            </a:r>
          </a:p>
        </p:txBody>
      </p:sp>
      <p:sp>
        <p:nvSpPr>
          <p:cNvPr id="8" name="object 8"/>
          <p:cNvSpPr/>
          <p:nvPr/>
        </p:nvSpPr>
        <p:spPr>
          <a:xfrm>
            <a:off x="758411" y="1731981"/>
            <a:ext cx="150610" cy="139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/>
          <p:nvPr/>
        </p:nvSpPr>
        <p:spPr>
          <a:xfrm>
            <a:off x="1078676" y="1499189"/>
            <a:ext cx="7813803" cy="4197650"/>
          </a:xfrm>
          <a:prstGeom prst="rect">
            <a:avLst/>
          </a:prstGeom>
        </p:spPr>
        <p:txBody>
          <a:bodyPr vert="horz" wrap="square" lIns="0" tIns="147918" rIns="0" bIns="0" rtlCol="0">
            <a:spAutoFit/>
          </a:bodyPr>
          <a:lstStyle/>
          <a:p>
            <a:pPr marL="11206" algn="just">
              <a:spcBef>
                <a:spcPts val="1165"/>
              </a:spcBef>
            </a:pPr>
            <a:r>
              <a:rPr sz="2800" spc="84" dirty="0">
                <a:latin typeface="Arial"/>
                <a:cs typeface="Arial"/>
              </a:rPr>
              <a:t>Introduction:</a:t>
            </a:r>
            <a:endParaRPr sz="2800" dirty="0">
              <a:latin typeface="Arial"/>
              <a:cs typeface="Arial"/>
            </a:endParaRPr>
          </a:p>
          <a:p>
            <a:pPr marL="11206" marR="71161" algn="just">
              <a:lnSpc>
                <a:spcPct val="130200"/>
              </a:lnSpc>
              <a:spcBef>
                <a:spcPts val="393"/>
              </a:spcBef>
            </a:pPr>
            <a:r>
              <a:rPr sz="2400" spc="-4" dirty="0">
                <a:latin typeface="Arial"/>
                <a:cs typeface="Arial"/>
              </a:rPr>
              <a:t>PL/SQL procedures and functions are compiled database objects. </a:t>
            </a:r>
            <a:endParaRPr lang="en-IN" sz="2400" spc="-4" dirty="0" smtClean="0">
              <a:latin typeface="Arial"/>
              <a:cs typeface="Arial"/>
            </a:endParaRPr>
          </a:p>
          <a:p>
            <a:pPr marL="11206" marR="71161" algn="just">
              <a:lnSpc>
                <a:spcPct val="130200"/>
              </a:lnSpc>
              <a:spcBef>
                <a:spcPts val="393"/>
              </a:spcBef>
            </a:pPr>
            <a:r>
              <a:rPr sz="2400" spc="-4" dirty="0" smtClean="0">
                <a:latin typeface="Arial"/>
                <a:cs typeface="Arial"/>
              </a:rPr>
              <a:t>Functions  </a:t>
            </a:r>
            <a:r>
              <a:rPr sz="2400" spc="-4" dirty="0">
                <a:latin typeface="Arial"/>
                <a:cs typeface="Arial"/>
              </a:rPr>
              <a:t>returns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4" dirty="0">
                <a:latin typeface="Arial"/>
                <a:cs typeface="Arial"/>
              </a:rPr>
              <a:t>scalar </a:t>
            </a:r>
            <a:r>
              <a:rPr sz="2400" dirty="0">
                <a:latin typeface="Arial"/>
                <a:cs typeface="Arial"/>
              </a:rPr>
              <a:t>value and </a:t>
            </a:r>
            <a:endParaRPr lang="en-IN" sz="2400" dirty="0" smtClean="0">
              <a:latin typeface="Arial"/>
              <a:cs typeface="Arial"/>
            </a:endParaRPr>
          </a:p>
          <a:p>
            <a:pPr marL="11206" marR="71161" algn="just">
              <a:lnSpc>
                <a:spcPct val="130200"/>
              </a:lnSpc>
              <a:spcBef>
                <a:spcPts val="393"/>
              </a:spcBef>
            </a:pPr>
            <a:r>
              <a:rPr sz="2400" spc="-4" dirty="0" smtClean="0">
                <a:latin typeface="Arial"/>
                <a:cs typeface="Arial"/>
              </a:rPr>
              <a:t>PL/SQL </a:t>
            </a:r>
            <a:r>
              <a:rPr sz="2400" spc="-4" dirty="0">
                <a:latin typeface="Arial"/>
                <a:cs typeface="Arial"/>
              </a:rPr>
              <a:t>procedures return nothing. </a:t>
            </a:r>
            <a:endParaRPr lang="en-IN" sz="2400" spc="-4" dirty="0" smtClean="0">
              <a:latin typeface="Arial"/>
              <a:cs typeface="Arial"/>
            </a:endParaRPr>
          </a:p>
          <a:p>
            <a:pPr marL="11206" marR="71161" algn="just">
              <a:lnSpc>
                <a:spcPct val="130200"/>
              </a:lnSpc>
              <a:spcBef>
                <a:spcPts val="393"/>
              </a:spcBef>
            </a:pPr>
            <a:endParaRPr lang="en-IN" sz="2400" spc="-4" dirty="0">
              <a:latin typeface="Arial"/>
              <a:cs typeface="Arial"/>
            </a:endParaRPr>
          </a:p>
          <a:p>
            <a:pPr marL="11206" marR="71161" algn="just">
              <a:lnSpc>
                <a:spcPct val="130200"/>
              </a:lnSpc>
              <a:spcBef>
                <a:spcPts val="393"/>
              </a:spcBef>
            </a:pPr>
            <a:r>
              <a:rPr sz="2400" spc="-4" dirty="0" smtClean="0">
                <a:latin typeface="Arial"/>
                <a:cs typeface="Arial"/>
              </a:rPr>
              <a:t>Both </a:t>
            </a:r>
            <a:r>
              <a:rPr sz="2400" dirty="0">
                <a:latin typeface="Arial"/>
                <a:cs typeface="Arial"/>
              </a:rPr>
              <a:t>can </a:t>
            </a:r>
            <a:r>
              <a:rPr sz="2400" spc="-4" dirty="0">
                <a:latin typeface="Arial"/>
                <a:cs typeface="Arial"/>
              </a:rPr>
              <a:t>take  </a:t>
            </a:r>
            <a:r>
              <a:rPr sz="2400" dirty="0">
                <a:latin typeface="Arial"/>
                <a:cs typeface="Arial"/>
              </a:rPr>
              <a:t>zero or more </a:t>
            </a:r>
            <a:r>
              <a:rPr sz="2400" spc="-4" dirty="0">
                <a:latin typeface="Arial"/>
                <a:cs typeface="Arial"/>
              </a:rPr>
              <a:t>number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4" dirty="0">
                <a:latin typeface="Arial"/>
                <a:cs typeface="Arial"/>
              </a:rPr>
              <a:t>parameters </a:t>
            </a:r>
            <a:r>
              <a:rPr sz="2400" dirty="0">
                <a:latin typeface="Arial"/>
                <a:cs typeface="Arial"/>
              </a:rPr>
              <a:t>as </a:t>
            </a:r>
            <a:r>
              <a:rPr sz="2400" spc="-4" dirty="0">
                <a:latin typeface="Arial"/>
                <a:cs typeface="Arial"/>
              </a:rPr>
              <a:t>input </a:t>
            </a:r>
            <a:r>
              <a:rPr sz="2400" dirty="0">
                <a:latin typeface="Arial"/>
                <a:cs typeface="Arial"/>
              </a:rPr>
              <a:t>or </a:t>
            </a:r>
            <a:r>
              <a:rPr sz="2400" spc="-4" dirty="0">
                <a:latin typeface="Arial"/>
                <a:cs typeface="Arial"/>
              </a:rPr>
              <a:t>output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5220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Functions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216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0"/>
            <a:ext cx="8001000" cy="838200"/>
          </a:xfrm>
        </p:spPr>
        <p:txBody>
          <a:bodyPr/>
          <a:lstStyle/>
          <a:p>
            <a:pPr eaLnBrk="1" hangingPunct="1"/>
            <a:r>
              <a:rPr lang="en-US" sz="3200" b="1" u="sng" dirty="0" smtClean="0">
                <a:effectLst/>
                <a:ea typeface="Arial Unicode MS" pitchFamily="34" charset="-128"/>
                <a:cs typeface="Arial Unicode MS" pitchFamily="34" charset="-128"/>
              </a:rPr>
              <a:t>FUNCTIONS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762000"/>
            <a:ext cx="8892480" cy="5334000"/>
          </a:xfrm>
        </p:spPr>
        <p:txBody>
          <a:bodyPr/>
          <a:lstStyle/>
          <a:p>
            <a:pPr marL="742950" indent="-571500" algn="just" eaLnBrk="1" hangingPunct="1">
              <a:lnSpc>
                <a:spcPct val="80000"/>
              </a:lnSpc>
              <a:buFontTx/>
              <a:buChar char="•"/>
            </a:pPr>
            <a:r>
              <a:rPr lang="en-US" sz="2800" b="1" dirty="0" smtClean="0">
                <a:solidFill>
                  <a:schemeClr val="tx1"/>
                </a:solidFill>
                <a:effectLst/>
              </a:rPr>
              <a:t>Functions are a type of stored code and are very similar to procedures.</a:t>
            </a:r>
          </a:p>
          <a:p>
            <a:pPr marL="742950" indent="-571500" algn="just" eaLnBrk="1" hangingPunct="1">
              <a:lnSpc>
                <a:spcPct val="80000"/>
              </a:lnSpc>
              <a:buFontTx/>
              <a:buChar char="•"/>
            </a:pPr>
            <a:r>
              <a:rPr lang="en-US" sz="2800" b="1" dirty="0" smtClean="0">
                <a:solidFill>
                  <a:schemeClr val="tx1"/>
                </a:solidFill>
                <a:effectLst/>
              </a:rPr>
              <a:t>The significant difference is that a function is a PL/SQL block that </a:t>
            </a:r>
            <a:r>
              <a:rPr lang="en-US" sz="2800" b="1" i="1" dirty="0" smtClean="0">
                <a:solidFill>
                  <a:schemeClr val="tx1"/>
                </a:solidFill>
                <a:effectLst/>
              </a:rPr>
              <a:t>returns </a:t>
            </a:r>
            <a:r>
              <a:rPr lang="en-US" sz="2800" b="1" dirty="0" smtClean="0">
                <a:solidFill>
                  <a:schemeClr val="tx1"/>
                </a:solidFill>
                <a:effectLst/>
              </a:rPr>
              <a:t>a single value. </a:t>
            </a:r>
          </a:p>
          <a:p>
            <a:pPr marL="742950" indent="-571500" algn="just" eaLnBrk="1" hangingPunct="1">
              <a:lnSpc>
                <a:spcPct val="80000"/>
              </a:lnSpc>
              <a:buFontTx/>
              <a:buChar char="•"/>
            </a:pPr>
            <a:r>
              <a:rPr lang="en-US" sz="2800" b="1" dirty="0" smtClean="0">
                <a:solidFill>
                  <a:schemeClr val="tx1"/>
                </a:solidFill>
                <a:effectLst/>
              </a:rPr>
              <a:t>Functions can accept one, many, or no parameters, but a function must have a return clause in the executable section of the function.</a:t>
            </a:r>
          </a:p>
          <a:p>
            <a:pPr marL="742950" indent="-571500" algn="just" eaLnBrk="1" hangingPunct="1">
              <a:lnSpc>
                <a:spcPct val="80000"/>
              </a:lnSpc>
              <a:buFontTx/>
              <a:buChar char="•"/>
            </a:pPr>
            <a:r>
              <a:rPr lang="en-US" sz="2800" b="1" dirty="0" smtClean="0">
                <a:solidFill>
                  <a:schemeClr val="tx1"/>
                </a:solidFill>
                <a:effectLst/>
              </a:rPr>
              <a:t>The datatype of the return value must be declared in the header of the function.</a:t>
            </a:r>
          </a:p>
          <a:p>
            <a:pPr marL="742950" indent="-571500" algn="just" eaLnBrk="1" hangingPunct="1">
              <a:lnSpc>
                <a:spcPct val="80000"/>
              </a:lnSpc>
              <a:buFontTx/>
              <a:buChar char="•"/>
            </a:pPr>
            <a:r>
              <a:rPr lang="en-US" sz="2800" b="1" dirty="0" smtClean="0">
                <a:solidFill>
                  <a:schemeClr val="tx1"/>
                </a:solidFill>
                <a:effectLst/>
              </a:rPr>
              <a:t>A function is not a stand-alone executable in the way that a procedure is: It must be used in some context. You can think of it as a sentence fragment.</a:t>
            </a:r>
          </a:p>
          <a:p>
            <a:pPr marL="742950" indent="-571500" algn="just" eaLnBrk="1" hangingPunct="1">
              <a:lnSpc>
                <a:spcPct val="80000"/>
              </a:lnSpc>
              <a:buFontTx/>
              <a:buChar char="•"/>
            </a:pPr>
            <a:r>
              <a:rPr lang="en-US" sz="2800" b="1" dirty="0" smtClean="0">
                <a:solidFill>
                  <a:schemeClr val="tx1"/>
                </a:solidFill>
                <a:effectLst/>
              </a:rPr>
              <a:t>A function has output that needs to be assigned to a variable, or it can be used in a SELECT statement.</a:t>
            </a:r>
          </a:p>
          <a:p>
            <a:pPr marL="742950" indent="-571500" algn="just" eaLnBrk="1" hangingPunct="1">
              <a:lnSpc>
                <a:spcPct val="80000"/>
              </a:lnSpc>
              <a:buFontTx/>
              <a:buChar char="•"/>
            </a:pPr>
            <a:endParaRPr lang="en-US" sz="2400" b="1" dirty="0" smtClean="0">
              <a:solidFill>
                <a:schemeClr val="tx1"/>
              </a:solidFill>
              <a:effectLst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7925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Syntax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/>
              <a:t>CREATE [OR REPLACE] FUNCTION </a:t>
            </a:r>
            <a:r>
              <a:rPr lang="en-IN" dirty="0" err="1"/>
              <a:t>function_name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(parameter list)</a:t>
            </a:r>
          </a:p>
          <a:p>
            <a:pPr marL="0" indent="0">
              <a:buNone/>
            </a:pPr>
            <a:r>
              <a:rPr lang="en-IN" dirty="0"/>
              <a:t>RETURN </a:t>
            </a:r>
            <a:r>
              <a:rPr lang="en-IN" dirty="0" err="1"/>
              <a:t>datatype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IS</a:t>
            </a:r>
          </a:p>
          <a:p>
            <a:pPr marL="0" indent="0">
              <a:buNone/>
            </a:pPr>
            <a:r>
              <a:rPr lang="en-IN" dirty="0"/>
              <a:t>BEGIN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RETURN (</a:t>
            </a:r>
            <a:r>
              <a:rPr lang="en-IN" dirty="0" err="1"/>
              <a:t>return_value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END;</a:t>
            </a:r>
          </a:p>
        </p:txBody>
      </p:sp>
    </p:spTree>
    <p:extLst>
      <p:ext uri="{BB962C8B-B14F-4D97-AF65-F5344CB8AC3E}">
        <p14:creationId xmlns:p14="http://schemas.microsoft.com/office/powerpoint/2010/main" val="96029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0556" y="1177963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90556" y="1181997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7879" y="1479176"/>
            <a:ext cx="7328647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2" y="0"/>
                </a:lnTo>
              </a:path>
            </a:pathLst>
          </a:custGeom>
          <a:ln w="76199">
            <a:solidFill>
              <a:srgbClr val="98CC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23528" y="451327"/>
            <a:ext cx="6527204" cy="687858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spc="-4" dirty="0"/>
              <a:t>Creating</a:t>
            </a:r>
            <a:r>
              <a:rPr spc="-44" dirty="0"/>
              <a:t> </a:t>
            </a:r>
            <a:r>
              <a:rPr spc="-9" dirty="0"/>
              <a:t>Functions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42501" y="1511676"/>
            <a:ext cx="5486960" cy="4805264"/>
          </a:xfrm>
          <a:prstGeom prst="rect">
            <a:avLst/>
          </a:prstGeom>
        </p:spPr>
        <p:txBody>
          <a:bodyPr vert="horz" wrap="square" lIns="0" tIns="109257" rIns="0" bIns="0" rtlCol="0">
            <a:spAutoFit/>
          </a:bodyPr>
          <a:lstStyle/>
          <a:p>
            <a:pPr marL="11206" marR="0" lvl="0" indent="0" algn="l" defTabSz="914400" rtl="0" eaLnBrk="1" fontAlgn="auto" latinLnBrk="0" hangingPunct="1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8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following </a:t>
            </a:r>
            <a:r>
              <a:rPr kumimoji="0" sz="158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are </a:t>
            </a:r>
            <a:r>
              <a:rPr kumimoji="0" sz="1588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features </a:t>
            </a:r>
            <a:r>
              <a:rPr kumimoji="0" sz="158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a</a:t>
            </a:r>
            <a:r>
              <a:rPr kumimoji="0" sz="1588" b="0" i="0" u="none" strike="noStrike" kern="1200" cap="none" spc="-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588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function:</a:t>
            </a:r>
            <a:endParaRPr kumimoji="0" sz="158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13221" marR="0" lvl="0" indent="-302575" algn="l" defTabSz="914400" rtl="0" eaLnBrk="1" fontAlgn="auto" latinLnBrk="0" hangingPunct="1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13221" algn="l"/>
                <a:tab pos="313781" algn="l"/>
              </a:tabLst>
              <a:defRPr/>
            </a:pPr>
            <a:r>
              <a:rPr kumimoji="0" sz="1588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Function </a:t>
            </a:r>
            <a:r>
              <a:rPr kumimoji="0" sz="158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 a </a:t>
            </a:r>
            <a:r>
              <a:rPr kumimoji="0" sz="1588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subprogram that </a:t>
            </a:r>
            <a:r>
              <a:rPr kumimoji="0" sz="158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 used </a:t>
            </a:r>
            <a:r>
              <a:rPr kumimoji="0" sz="1588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 calculate</a:t>
            </a:r>
            <a:r>
              <a:rPr kumimoji="0" sz="1588" b="0" i="0" u="none" strike="noStrike" kern="1200" cap="none" spc="-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58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value.</a:t>
            </a:r>
          </a:p>
          <a:p>
            <a:pPr marL="313221" marR="0" lvl="0" indent="-302575" algn="l" defTabSz="914400" rtl="0" eaLnBrk="1" fontAlgn="auto" latinLnBrk="0" hangingPunct="1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13221" algn="l"/>
                <a:tab pos="313781" algn="l"/>
              </a:tabLst>
              <a:defRPr/>
            </a:pPr>
            <a:r>
              <a:rPr kumimoji="0" sz="1588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It </a:t>
            </a:r>
            <a:r>
              <a:rPr kumimoji="0" sz="158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must </a:t>
            </a:r>
            <a:r>
              <a:rPr kumimoji="0" sz="1588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return </a:t>
            </a:r>
            <a:r>
              <a:rPr kumimoji="0" sz="158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1588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single </a:t>
            </a:r>
            <a:r>
              <a:rPr kumimoji="0" sz="158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value at a</a:t>
            </a:r>
            <a:r>
              <a:rPr kumimoji="0" sz="1588" b="0" i="0" u="none" strike="noStrike" kern="1200" cap="none" spc="-3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58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time.</a:t>
            </a:r>
          </a:p>
          <a:p>
            <a:pPr marL="313221" marR="0" lvl="0" indent="-302575" algn="l" defTabSz="914400" rtl="0" eaLnBrk="1" fontAlgn="auto" latinLnBrk="0" hangingPunct="1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13221" algn="l"/>
                <a:tab pos="313781" algn="l"/>
              </a:tabLst>
              <a:defRPr/>
            </a:pPr>
            <a:r>
              <a:rPr kumimoji="0" sz="1588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Functions </a:t>
            </a:r>
            <a:r>
              <a:rPr kumimoji="0" sz="158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can be </a:t>
            </a:r>
            <a:r>
              <a:rPr kumimoji="0" sz="1588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used </a:t>
            </a:r>
            <a:r>
              <a:rPr kumimoji="0" sz="158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 a </a:t>
            </a:r>
            <a:r>
              <a:rPr kumimoji="0" sz="1588" b="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SELECT</a:t>
            </a:r>
            <a:r>
              <a:rPr kumimoji="0" sz="1588" b="0" i="0" u="none" strike="noStrike" kern="1200" cap="none" spc="-5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1588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statement.</a:t>
            </a:r>
            <a:endParaRPr kumimoji="0" sz="158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1206" marR="0" lvl="0" indent="0" algn="l" defTabSz="914400" rtl="0" eaLnBrk="1" fontAlgn="auto" latinLnBrk="0" hangingPunct="1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8" b="0" i="0" u="none" strike="noStrike" kern="1200" cap="none" spc="5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Syntax:</a:t>
            </a:r>
            <a:endParaRPr kumimoji="0" sz="158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414640" marR="4483" lvl="0" indent="0" algn="l" defTabSz="914400" rtl="0" eaLnBrk="1" fontAlgn="auto" latinLnBrk="0" hangingPunct="1">
              <a:lnSpc>
                <a:spcPts val="2682"/>
              </a:lnSpc>
              <a:spcBef>
                <a:spcPts val="16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8" b="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CREATE OR REPLACE FUNCTION &lt;FUNCTION NAME&gt;  [ARGUMENT]</a:t>
            </a:r>
            <a:endParaRPr kumimoji="0" sz="158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414640" marR="0" lvl="0" indent="0" algn="l" defTabSz="914400" rtl="0" eaLnBrk="1" fontAlgn="auto" latinLnBrk="0" hangingPunct="1">
              <a:lnSpc>
                <a:spcPct val="100000"/>
              </a:lnSpc>
              <a:spcBef>
                <a:spcPts val="5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8" b="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RETURN DATATYPE </a:t>
            </a:r>
            <a:r>
              <a:rPr kumimoji="0" sz="1588" b="0" i="0" u="none" strike="noStrike" kern="1200" cap="none" spc="-9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IS</a:t>
            </a:r>
            <a:endParaRPr kumimoji="0" lang="en-US" sz="1588" b="0" i="0" u="none" strike="noStrike" kern="1200" cap="none" spc="-9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414640" marR="0" lvl="0" indent="0" algn="l" defTabSz="914400" rtl="0" eaLnBrk="1" fontAlgn="auto" latinLnBrk="0" hangingPunct="1">
              <a:lnSpc>
                <a:spcPct val="100000"/>
              </a:lnSpc>
              <a:spcBef>
                <a:spcPts val="5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8" b="0" i="0" u="none" strike="noStrike" kern="1200" cap="none" spc="-9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[&lt;</a:t>
            </a:r>
            <a:r>
              <a:rPr kumimoji="0" sz="1588" b="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LOCAL</a:t>
            </a:r>
            <a:r>
              <a:rPr kumimoji="0" sz="1588" b="0" i="0" u="none" strike="noStrike" kern="1200" cap="none" spc="-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1588" b="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DECLARATION&gt;]</a:t>
            </a:r>
            <a:endParaRPr kumimoji="0" sz="158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414640" marR="0" lvl="0" indent="0" algn="l" defTabSz="914400" rtl="0" eaLnBrk="1" fontAlgn="auto" latinLnBrk="0" hangingPunct="1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8" b="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BEGIN</a:t>
            </a:r>
            <a:endParaRPr kumimoji="0" sz="158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414640" marR="1209179" lvl="0" indent="0" algn="l" defTabSz="914400" rtl="0" eaLnBrk="1" fontAlgn="auto" latinLnBrk="0" hangingPunct="1">
              <a:lnSpc>
                <a:spcPct val="140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8" b="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EXECUTABLE STATEMENTS  [EXCEPTION] </a:t>
            </a:r>
            <a:endParaRPr kumimoji="0" lang="en-US" sz="1588" b="0" i="0" u="none" strike="noStrike" kern="1200" cap="none" spc="-9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414640" marR="1209179" lvl="0" indent="0" algn="l" defTabSz="914400" rtl="0" eaLnBrk="1" fontAlgn="auto" latinLnBrk="0" hangingPunct="1">
              <a:lnSpc>
                <a:spcPct val="140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8" b="0" i="0" u="none" strike="noStrike" kern="1200" cap="none" spc="-9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[</a:t>
            </a:r>
            <a:r>
              <a:rPr kumimoji="0" sz="1588" b="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EXCEPTION</a:t>
            </a:r>
            <a:r>
              <a:rPr kumimoji="0" sz="1588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1588" b="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HANDLERS]</a:t>
            </a:r>
            <a:endParaRPr kumimoji="0" sz="158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414640" marR="0" lvl="0" indent="0" algn="l" defTabSz="914400" rtl="0" eaLnBrk="1" fontAlgn="auto" latinLnBrk="0" hangingPunct="1">
              <a:lnSpc>
                <a:spcPct val="100000"/>
              </a:lnSpc>
              <a:spcBef>
                <a:spcPts val="77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8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END</a:t>
            </a:r>
            <a:r>
              <a:rPr kumimoji="0" sz="1588" b="0" i="0" u="none" strike="noStrike" kern="1200" cap="none" spc="-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1588" b="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[FUNCTION_NAME];</a:t>
            </a:r>
            <a:endParaRPr kumimoji="0" sz="158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999699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0"/>
            <a:ext cx="8001000" cy="838200"/>
          </a:xfrm>
        </p:spPr>
        <p:txBody>
          <a:bodyPr/>
          <a:lstStyle/>
          <a:p>
            <a:pPr eaLnBrk="1" hangingPunct="1"/>
            <a:r>
              <a:rPr lang="en-US" sz="3200" b="1" u="sng" dirty="0" smtClean="0">
                <a:effectLst/>
                <a:ea typeface="Arial Unicode MS" pitchFamily="34" charset="-128"/>
                <a:cs typeface="Arial Unicode MS" pitchFamily="34" charset="-128"/>
              </a:rPr>
              <a:t>FUNCTIONS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762000"/>
            <a:ext cx="8604448" cy="5334000"/>
          </a:xfrm>
        </p:spPr>
        <p:txBody>
          <a:bodyPr>
            <a:normAutofit lnSpcReduction="10000"/>
          </a:bodyPr>
          <a:lstStyle/>
          <a:p>
            <a:pPr marL="742950" indent="-571500" algn="just" eaLnBrk="1" hangingPunct="1">
              <a:lnSpc>
                <a:spcPct val="80000"/>
              </a:lnSpc>
              <a:buFontTx/>
              <a:buChar char="•"/>
            </a:pPr>
            <a:r>
              <a:rPr lang="en-US" b="1" dirty="0" smtClean="0">
                <a:solidFill>
                  <a:schemeClr val="tx1"/>
                </a:solidFill>
                <a:effectLst/>
              </a:rPr>
              <a:t>The function does not necessarily have to have any parameters, but it must have a RETURN value declared in the header, and it must return values for all the varying possible execution streams.</a:t>
            </a:r>
          </a:p>
          <a:p>
            <a:pPr marL="742950" indent="-571500" algn="just" eaLnBrk="1" hangingPunct="1">
              <a:lnSpc>
                <a:spcPct val="80000"/>
              </a:lnSpc>
              <a:buFontTx/>
              <a:buChar char="•"/>
            </a:pPr>
            <a:r>
              <a:rPr lang="en-US" b="1" dirty="0" smtClean="0">
                <a:solidFill>
                  <a:schemeClr val="tx1"/>
                </a:solidFill>
                <a:effectLst/>
              </a:rPr>
              <a:t>The RETURN statement does not have to appear as the last line of the main execution section, and there may be more than one RETURN statement (there should be a RETURN statement for each exception). </a:t>
            </a:r>
          </a:p>
          <a:p>
            <a:pPr marL="742950" indent="-571500" algn="just" eaLnBrk="1" hangingPunct="1">
              <a:lnSpc>
                <a:spcPct val="80000"/>
              </a:lnSpc>
              <a:buFontTx/>
              <a:buChar char="•"/>
            </a:pPr>
            <a:r>
              <a:rPr lang="en-US" b="1" dirty="0" smtClean="0">
                <a:solidFill>
                  <a:schemeClr val="tx1"/>
                </a:solidFill>
                <a:effectLst/>
              </a:rPr>
              <a:t>A function may have IN, OUT, or IN OUT parameters.  but you rarely see anything except IN parameters.  </a:t>
            </a:r>
          </a:p>
          <a:p>
            <a:pPr marL="171450" indent="0" algn="just" eaLnBrk="1" hangingPunct="1">
              <a:lnSpc>
                <a:spcPct val="80000"/>
              </a:lnSpc>
              <a:buFontTx/>
              <a:buNone/>
            </a:pPr>
            <a:endParaRPr lang="en-US" b="1" dirty="0" smtClean="0">
              <a:solidFill>
                <a:schemeClr val="tx1"/>
              </a:solidFill>
              <a:effectLst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64626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1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CREATE OR REPLACE FUNCTION </a:t>
            </a:r>
            <a:r>
              <a:rPr lang="en-IN" dirty="0" err="1" smtClean="0"/>
              <a:t>totalEmployees</a:t>
            </a:r>
            <a:r>
              <a:rPr lang="en-IN" dirty="0" smtClean="0"/>
              <a:t> </a:t>
            </a: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RETURN</a:t>
            </a:r>
            <a:r>
              <a:rPr lang="en-IN" dirty="0"/>
              <a:t> number IS </a:t>
            </a:r>
          </a:p>
          <a:p>
            <a:pPr marL="0" indent="0">
              <a:buNone/>
            </a:pPr>
            <a:r>
              <a:rPr lang="en-IN" dirty="0"/>
              <a:t>total number(2) := 0; </a:t>
            </a:r>
          </a:p>
          <a:p>
            <a:pPr marL="0" indent="0">
              <a:buNone/>
            </a:pPr>
            <a:r>
              <a:rPr lang="en-IN" dirty="0"/>
              <a:t>BEGIN </a:t>
            </a:r>
          </a:p>
          <a:p>
            <a:pPr marL="0" indent="0">
              <a:buNone/>
            </a:pPr>
            <a:r>
              <a:rPr lang="en-IN" dirty="0"/>
              <a:t>SELECT count(*) into total </a:t>
            </a:r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smtClean="0"/>
              <a:t>EMPLOYEE; </a:t>
            </a: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RETURN</a:t>
            </a:r>
            <a:r>
              <a:rPr lang="en-IN" dirty="0"/>
              <a:t> total; </a:t>
            </a:r>
          </a:p>
          <a:p>
            <a:pPr marL="0" indent="0">
              <a:buNone/>
            </a:pPr>
            <a:r>
              <a:rPr lang="en-IN" dirty="0"/>
              <a:t>END; </a:t>
            </a:r>
          </a:p>
          <a:p>
            <a:pPr marL="0" indent="0">
              <a:buNone/>
            </a:pPr>
            <a:r>
              <a:rPr lang="en-IN" dirty="0"/>
              <a:t>/ </a:t>
            </a:r>
          </a:p>
        </p:txBody>
      </p:sp>
    </p:spTree>
    <p:extLst>
      <p:ext uri="{BB962C8B-B14F-4D97-AF65-F5344CB8AC3E}">
        <p14:creationId xmlns:p14="http://schemas.microsoft.com/office/powerpoint/2010/main" val="593898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Calling a function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DECLARE </a:t>
            </a:r>
          </a:p>
          <a:p>
            <a:pPr marL="0" indent="0">
              <a:buNone/>
            </a:pPr>
            <a:r>
              <a:rPr lang="en-IN" dirty="0"/>
              <a:t>c number(2); </a:t>
            </a:r>
          </a:p>
          <a:p>
            <a:pPr marL="0" indent="0">
              <a:buNone/>
            </a:pPr>
            <a:r>
              <a:rPr lang="en-IN" dirty="0"/>
              <a:t>BEGIN 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</a:t>
            </a:r>
            <a:r>
              <a:rPr lang="en-IN" dirty="0"/>
              <a:t> := </a:t>
            </a:r>
            <a:r>
              <a:rPr lang="en-IN" dirty="0" err="1" smtClean="0"/>
              <a:t>totalEmployees</a:t>
            </a:r>
            <a:r>
              <a:rPr lang="en-IN" dirty="0"/>
              <a:t>(); </a:t>
            </a:r>
          </a:p>
          <a:p>
            <a:pPr marL="0" indent="0">
              <a:buNone/>
            </a:pPr>
            <a:r>
              <a:rPr lang="en-IN" dirty="0" err="1"/>
              <a:t>dbms_output.put_line</a:t>
            </a:r>
            <a:r>
              <a:rPr lang="en-IN" dirty="0"/>
              <a:t>('Total no. of </a:t>
            </a:r>
            <a:r>
              <a:rPr lang="en-IN" dirty="0" smtClean="0"/>
              <a:t>Employees: </a:t>
            </a:r>
            <a:r>
              <a:rPr lang="en-IN" dirty="0"/>
              <a:t>' || </a:t>
            </a:r>
            <a:r>
              <a:rPr lang="en-IN" dirty="0">
                <a:solidFill>
                  <a:srgbClr val="FF0000"/>
                </a:solidFill>
              </a:rPr>
              <a:t>c</a:t>
            </a:r>
            <a:r>
              <a:rPr lang="en-IN" dirty="0"/>
              <a:t>); </a:t>
            </a:r>
          </a:p>
          <a:p>
            <a:pPr marL="0" indent="0">
              <a:buNone/>
            </a:pPr>
            <a:r>
              <a:rPr lang="en-IN" dirty="0"/>
              <a:t>END; </a:t>
            </a:r>
          </a:p>
          <a:p>
            <a:pPr marL="0" indent="0">
              <a:buNone/>
            </a:pPr>
            <a:r>
              <a:rPr lang="en-IN" dirty="0"/>
              <a:t>/ </a:t>
            </a:r>
          </a:p>
        </p:txBody>
      </p:sp>
    </p:spTree>
    <p:extLst>
      <p:ext uri="{BB962C8B-B14F-4D97-AF65-F5344CB8AC3E}">
        <p14:creationId xmlns:p14="http://schemas.microsoft.com/office/powerpoint/2010/main" val="2773031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CREATE OR REPLACE FUNCTION </a:t>
            </a:r>
            <a:r>
              <a:rPr lang="en-IN" dirty="0" err="1" smtClean="0"/>
              <a:t>id_is_good</a:t>
            </a:r>
            <a:r>
              <a:rPr lang="en-IN" dirty="0" smtClean="0"/>
              <a:t>(</a:t>
            </a:r>
            <a:r>
              <a:rPr lang="en-IN" dirty="0" err="1" smtClean="0"/>
              <a:t>i_emp_id</a:t>
            </a:r>
            <a:r>
              <a:rPr lang="en-IN" dirty="0" smtClean="0"/>
              <a:t> </a:t>
            </a:r>
            <a:r>
              <a:rPr lang="en-IN" dirty="0"/>
              <a:t>IN NUMBER)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RETURN</a:t>
            </a:r>
            <a:r>
              <a:rPr lang="en-IN" dirty="0"/>
              <a:t> </a:t>
            </a:r>
            <a:r>
              <a:rPr lang="en-IN" dirty="0" smtClean="0"/>
              <a:t>BOOLEAN AS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v_id_cnt</a:t>
            </a:r>
            <a:r>
              <a:rPr lang="en-IN" dirty="0"/>
              <a:t> NUMBER;</a:t>
            </a:r>
          </a:p>
          <a:p>
            <a:pPr marL="0" indent="0">
              <a:buNone/>
            </a:pPr>
            <a:r>
              <a:rPr lang="en-IN" dirty="0"/>
              <a:t>BEGIN</a:t>
            </a:r>
          </a:p>
          <a:p>
            <a:pPr marL="0" indent="0">
              <a:buNone/>
            </a:pPr>
            <a:r>
              <a:rPr lang="en-IN" dirty="0" smtClean="0"/>
              <a:t>	SELECT </a:t>
            </a:r>
            <a:r>
              <a:rPr lang="en-IN" dirty="0"/>
              <a:t>COUNT(*)</a:t>
            </a:r>
          </a:p>
          <a:p>
            <a:pPr marL="0" indent="0">
              <a:buNone/>
            </a:pPr>
            <a:r>
              <a:rPr lang="en-IN" dirty="0" smtClean="0"/>
              <a:t>	INTO </a:t>
            </a:r>
            <a:r>
              <a:rPr lang="en-IN" dirty="0" err="1"/>
              <a:t>v_id_cnt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	FROM </a:t>
            </a:r>
            <a:r>
              <a:rPr lang="en-IN" dirty="0" err="1" smtClean="0"/>
              <a:t>enployee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	WHERE </a:t>
            </a:r>
            <a:r>
              <a:rPr lang="en-IN" dirty="0" err="1" smtClean="0"/>
              <a:t>emp_id</a:t>
            </a:r>
            <a:r>
              <a:rPr lang="en-IN" dirty="0" smtClean="0"/>
              <a:t> </a:t>
            </a:r>
            <a:r>
              <a:rPr lang="en-IN" dirty="0"/>
              <a:t>= </a:t>
            </a:r>
            <a:r>
              <a:rPr lang="en-IN" dirty="0" err="1" smtClean="0"/>
              <a:t>i_emp_id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smtClean="0">
                <a:solidFill>
                  <a:srgbClr val="FF0000"/>
                </a:solidFill>
              </a:rPr>
              <a:t>RETURN</a:t>
            </a:r>
            <a:r>
              <a:rPr lang="en-IN" dirty="0" smtClean="0"/>
              <a:t> </a:t>
            </a:r>
            <a:r>
              <a:rPr lang="en-IN" dirty="0"/>
              <a:t>1 </a:t>
            </a:r>
            <a:r>
              <a:rPr lang="en-IN" dirty="0">
                <a:solidFill>
                  <a:srgbClr val="FF0000"/>
                </a:solidFill>
              </a:rPr>
              <a:t>=</a:t>
            </a:r>
            <a:r>
              <a:rPr lang="en-IN" dirty="0"/>
              <a:t> </a:t>
            </a:r>
            <a:r>
              <a:rPr lang="en-IN" dirty="0" err="1"/>
              <a:t>v_id_cnt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EXCEPTION</a:t>
            </a:r>
          </a:p>
          <a:p>
            <a:pPr marL="0" indent="0">
              <a:buNone/>
            </a:pPr>
            <a:r>
              <a:rPr lang="en-IN" dirty="0"/>
              <a:t>WHEN </a:t>
            </a:r>
            <a:r>
              <a:rPr lang="en-IN" dirty="0" smtClean="0"/>
              <a:t>OTHERS THEN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smtClean="0">
                <a:solidFill>
                  <a:srgbClr val="FF0000"/>
                </a:solidFill>
              </a:rPr>
              <a:t>RETURN</a:t>
            </a:r>
            <a:r>
              <a:rPr lang="en-IN" dirty="0" smtClean="0"/>
              <a:t> </a:t>
            </a:r>
            <a:r>
              <a:rPr lang="en-IN" dirty="0"/>
              <a:t>FALSE;</a:t>
            </a:r>
          </a:p>
          <a:p>
            <a:pPr marL="0" indent="0">
              <a:buNone/>
            </a:pPr>
            <a:r>
              <a:rPr lang="en-IN" dirty="0"/>
              <a:t>END </a:t>
            </a:r>
            <a:r>
              <a:rPr lang="en-IN" dirty="0" err="1"/>
              <a:t>id_is_good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167539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DECLARE</a:t>
            </a:r>
          </a:p>
          <a:p>
            <a:pPr marL="0" indent="0">
              <a:buNone/>
            </a:pPr>
            <a:r>
              <a:rPr lang="en-IN" dirty="0" err="1"/>
              <a:t>v_id</a:t>
            </a:r>
            <a:r>
              <a:rPr lang="en-IN" dirty="0"/>
              <a:t> number;</a:t>
            </a:r>
          </a:p>
          <a:p>
            <a:pPr marL="0" indent="0">
              <a:buNone/>
            </a:pPr>
            <a:r>
              <a:rPr lang="en-IN" dirty="0"/>
              <a:t>BEGIN</a:t>
            </a:r>
          </a:p>
          <a:p>
            <a:pPr marL="0" indent="0">
              <a:buNone/>
            </a:pPr>
            <a:r>
              <a:rPr lang="en-IN" dirty="0" err="1"/>
              <a:t>v_id</a:t>
            </a:r>
            <a:r>
              <a:rPr lang="en-IN" dirty="0"/>
              <a:t> := &amp;id;</a:t>
            </a:r>
          </a:p>
          <a:p>
            <a:pPr marL="0" indent="0">
              <a:buNone/>
            </a:pPr>
            <a:r>
              <a:rPr lang="en-IN" dirty="0"/>
              <a:t>IF </a:t>
            </a:r>
            <a:r>
              <a:rPr lang="en-IN" dirty="0" err="1"/>
              <a:t>id_is_good</a:t>
            </a:r>
            <a:r>
              <a:rPr lang="en-IN" dirty="0"/>
              <a:t>(</a:t>
            </a:r>
            <a:r>
              <a:rPr lang="en-IN" dirty="0" err="1"/>
              <a:t>v_id</a:t>
            </a:r>
            <a:r>
              <a:rPr lang="en-IN" dirty="0" smtClean="0"/>
              <a:t>) THEN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  DBMS_OUTPUT.PUT_LINE(‘</a:t>
            </a:r>
            <a:r>
              <a:rPr lang="en-IN" dirty="0" smtClean="0"/>
              <a:t>Employee </a:t>
            </a:r>
            <a:r>
              <a:rPr lang="en-IN" dirty="0"/>
              <a:t>ID: '||</a:t>
            </a:r>
            <a:r>
              <a:rPr lang="en-IN" dirty="0" err="1"/>
              <a:t>v_id</a:t>
            </a:r>
            <a:r>
              <a:rPr lang="en-IN" dirty="0"/>
              <a:t>||' is </a:t>
            </a:r>
            <a:r>
              <a:rPr lang="en-IN" dirty="0" smtClean="0"/>
              <a:t>valid</a:t>
            </a:r>
            <a:r>
              <a:rPr lang="en-IN" dirty="0"/>
              <a:t>.');</a:t>
            </a:r>
          </a:p>
          <a:p>
            <a:pPr marL="0" indent="0">
              <a:buNone/>
            </a:pPr>
            <a:r>
              <a:rPr lang="en-IN" dirty="0"/>
              <a:t>ELSE</a:t>
            </a:r>
          </a:p>
          <a:p>
            <a:pPr marL="0" indent="0">
              <a:buNone/>
            </a:pPr>
            <a:r>
              <a:rPr lang="en-IN" dirty="0" smtClean="0"/>
              <a:t>  DBMS_OUTPUT.PUT_LINE(‘</a:t>
            </a:r>
            <a:r>
              <a:rPr lang="en-IN" dirty="0" smtClean="0"/>
              <a:t>Employee </a:t>
            </a:r>
            <a:r>
              <a:rPr lang="en-IN" dirty="0"/>
              <a:t>ID: '||</a:t>
            </a:r>
            <a:r>
              <a:rPr lang="en-IN" dirty="0" err="1"/>
              <a:t>v_id</a:t>
            </a:r>
            <a:r>
              <a:rPr lang="en-IN" dirty="0"/>
              <a:t>||' is </a:t>
            </a:r>
            <a:r>
              <a:rPr lang="en-IN" dirty="0" smtClean="0"/>
              <a:t>invalid</a:t>
            </a:r>
            <a:r>
              <a:rPr lang="en-IN" dirty="0"/>
              <a:t>.');</a:t>
            </a:r>
          </a:p>
          <a:p>
            <a:pPr marL="0" indent="0">
              <a:buNone/>
            </a:pPr>
            <a:r>
              <a:rPr lang="en-IN" dirty="0"/>
              <a:t>END IF;</a:t>
            </a:r>
          </a:p>
          <a:p>
            <a:pPr marL="0" indent="0">
              <a:buNone/>
            </a:pPr>
            <a:r>
              <a:rPr lang="en-IN" dirty="0"/>
              <a:t>END;</a:t>
            </a:r>
          </a:p>
        </p:txBody>
      </p:sp>
    </p:spTree>
    <p:extLst>
      <p:ext uri="{BB962C8B-B14F-4D97-AF65-F5344CB8AC3E}">
        <p14:creationId xmlns:p14="http://schemas.microsoft.com/office/powerpoint/2010/main" val="1991376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Example-3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CREATE OR REPLACE FUNCTION </a:t>
            </a:r>
            <a:r>
              <a:rPr lang="en-IN" dirty="0" err="1" smtClean="0"/>
              <a:t>show_description</a:t>
            </a:r>
            <a:r>
              <a:rPr lang="en-IN" dirty="0" smtClean="0"/>
              <a:t>(</a:t>
            </a:r>
            <a:r>
              <a:rPr lang="en-IN" dirty="0" err="1" smtClean="0"/>
              <a:t>i_course_no</a:t>
            </a:r>
            <a:r>
              <a:rPr lang="en-IN" dirty="0" smtClean="0"/>
              <a:t> </a:t>
            </a:r>
            <a:r>
              <a:rPr lang="en-IN" dirty="0" err="1"/>
              <a:t>course.course_no%TYPE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RETURN varchar2</a:t>
            </a:r>
          </a:p>
          <a:p>
            <a:pPr marL="0" indent="0">
              <a:buNone/>
            </a:pPr>
            <a:r>
              <a:rPr lang="en-IN" dirty="0"/>
              <a:t>AS</a:t>
            </a:r>
          </a:p>
          <a:p>
            <a:pPr marL="0" indent="0">
              <a:buNone/>
            </a:pPr>
            <a:r>
              <a:rPr lang="en-IN" dirty="0" err="1"/>
              <a:t>v_description</a:t>
            </a:r>
            <a:r>
              <a:rPr lang="en-IN" dirty="0"/>
              <a:t> varchar2(50);</a:t>
            </a:r>
          </a:p>
          <a:p>
            <a:pPr marL="0" indent="0">
              <a:buNone/>
            </a:pPr>
            <a:r>
              <a:rPr lang="en-IN" dirty="0"/>
              <a:t>BEGIN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</a:t>
            </a:r>
            <a:r>
              <a:rPr lang="en-IN" dirty="0" smtClean="0"/>
              <a:t>SELECT </a:t>
            </a:r>
            <a:r>
              <a:rPr lang="en-IN" dirty="0"/>
              <a:t>description</a:t>
            </a:r>
          </a:p>
          <a:p>
            <a:pPr marL="0" indent="0">
              <a:buNone/>
            </a:pPr>
            <a:r>
              <a:rPr lang="en-IN" dirty="0" smtClean="0"/>
              <a:t>   INTO </a:t>
            </a:r>
            <a:r>
              <a:rPr lang="en-IN" dirty="0" err="1"/>
              <a:t>v_description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   FROM </a:t>
            </a:r>
            <a:r>
              <a:rPr lang="en-IN" dirty="0"/>
              <a:t>course</a:t>
            </a:r>
          </a:p>
          <a:p>
            <a:pPr marL="0" indent="0">
              <a:buNone/>
            </a:pPr>
            <a:r>
              <a:rPr lang="en-IN" dirty="0" smtClean="0"/>
              <a:t>   WHERE </a:t>
            </a:r>
            <a:r>
              <a:rPr lang="en-IN" dirty="0" err="1"/>
              <a:t>course_no</a:t>
            </a:r>
            <a:r>
              <a:rPr lang="en-IN" dirty="0"/>
              <a:t> = </a:t>
            </a:r>
            <a:r>
              <a:rPr lang="en-IN" dirty="0" err="1"/>
              <a:t>i_course_no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 smtClean="0"/>
              <a:t>   RETURN </a:t>
            </a:r>
            <a:r>
              <a:rPr lang="en-IN" dirty="0" err="1"/>
              <a:t>v_description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EXCEPTION</a:t>
            </a:r>
          </a:p>
          <a:p>
            <a:pPr marL="0" indent="0">
              <a:buNone/>
            </a:pPr>
            <a:r>
              <a:rPr lang="en-IN" dirty="0"/>
              <a:t>WHEN </a:t>
            </a:r>
            <a:r>
              <a:rPr lang="en-IN" dirty="0" smtClean="0"/>
              <a:t>NO_DATA_FOUND THEN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   RETURN</a:t>
            </a:r>
            <a:r>
              <a:rPr lang="en-IN" dirty="0"/>
              <a:t>(‘The Course is not in the database');</a:t>
            </a:r>
          </a:p>
          <a:p>
            <a:pPr marL="0" indent="0">
              <a:buNone/>
            </a:pPr>
            <a:r>
              <a:rPr lang="en-IN" dirty="0"/>
              <a:t>WHEN </a:t>
            </a:r>
            <a:r>
              <a:rPr lang="en-IN" dirty="0" smtClean="0"/>
              <a:t>OTHERS THEN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   RETURN</a:t>
            </a:r>
            <a:r>
              <a:rPr lang="en-IN" dirty="0"/>
              <a:t>(‘Error in running </a:t>
            </a:r>
            <a:r>
              <a:rPr lang="en-IN" dirty="0" err="1"/>
              <a:t>show_description</a:t>
            </a:r>
            <a:r>
              <a:rPr lang="en-IN" dirty="0"/>
              <a:t>');</a:t>
            </a:r>
          </a:p>
          <a:p>
            <a:pPr marL="0" indent="0">
              <a:buNone/>
            </a:pPr>
            <a:r>
              <a:rPr lang="en-IN" dirty="0"/>
              <a:t>END;</a:t>
            </a:r>
          </a:p>
        </p:txBody>
      </p:sp>
    </p:spTree>
    <p:extLst>
      <p:ext uri="{BB962C8B-B14F-4D97-AF65-F5344CB8AC3E}">
        <p14:creationId xmlns:p14="http://schemas.microsoft.com/office/powerpoint/2010/main" val="1283008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0"/>
            <a:ext cx="8001000" cy="838200"/>
          </a:xfrm>
        </p:spPr>
        <p:txBody>
          <a:bodyPr/>
          <a:lstStyle/>
          <a:p>
            <a:pPr eaLnBrk="1" hangingPunct="1"/>
            <a:r>
              <a:rPr lang="en-US" sz="3200" b="1" u="sng" dirty="0" smtClean="0">
                <a:effectLst/>
                <a:ea typeface="Arial Unicode MS" pitchFamily="34" charset="-128"/>
                <a:cs typeface="Arial Unicode MS" pitchFamily="34" charset="-128"/>
              </a:rPr>
              <a:t>Making Use Of  Functions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762000"/>
            <a:ext cx="9144000" cy="5334000"/>
          </a:xfrm>
        </p:spPr>
        <p:txBody>
          <a:bodyPr/>
          <a:lstStyle/>
          <a:p>
            <a:pPr marL="742950" indent="-571500" algn="l" eaLnBrk="1" hangingPunct="1">
              <a:lnSpc>
                <a:spcPct val="80000"/>
              </a:lnSpc>
              <a:buFontTx/>
              <a:buChar char="•"/>
            </a:pPr>
            <a:r>
              <a:rPr lang="en-US" sz="2800" b="1" dirty="0" smtClean="0">
                <a:solidFill>
                  <a:schemeClr val="tx1"/>
                </a:solidFill>
                <a:effectLst/>
              </a:rPr>
              <a:t>In a anonymous block</a:t>
            </a:r>
          </a:p>
          <a:p>
            <a:pPr marL="2136775" lvl="2" indent="-568325" algn="l" eaLnBrk="1" hangingPunct="1">
              <a:lnSpc>
                <a:spcPct val="80000"/>
              </a:lnSpc>
            </a:pPr>
            <a:endParaRPr lang="en-US" sz="700" b="1" dirty="0" smtClean="0">
              <a:solidFill>
                <a:schemeClr val="tx1"/>
              </a:solidFill>
              <a:effectLst/>
            </a:endParaRPr>
          </a:p>
          <a:p>
            <a:pPr marL="2136775" lvl="2" indent="-568325" algn="l" eaLnBrk="1" hangingPunct="1">
              <a:lnSpc>
                <a:spcPct val="80000"/>
              </a:lnSpc>
            </a:pPr>
            <a:r>
              <a:rPr lang="en-US" dirty="0" smtClean="0">
                <a:solidFill>
                  <a:schemeClr val="tx1"/>
                </a:solidFill>
                <a:effectLst/>
              </a:rPr>
              <a:t>SET SERVEROUTPUT ON</a:t>
            </a:r>
          </a:p>
          <a:p>
            <a:pPr marL="2136775" lvl="2" indent="-568325" algn="l" eaLnBrk="1" hangingPunct="1">
              <a:lnSpc>
                <a:spcPct val="80000"/>
              </a:lnSpc>
            </a:pPr>
            <a:r>
              <a:rPr lang="en-US" dirty="0" smtClean="0">
                <a:solidFill>
                  <a:schemeClr val="tx1"/>
                </a:solidFill>
                <a:effectLst/>
              </a:rPr>
              <a:t>DECLARE</a:t>
            </a:r>
          </a:p>
          <a:p>
            <a:pPr marL="2136775" lvl="2" indent="-568325" algn="l" eaLnBrk="1" hangingPunct="1">
              <a:lnSpc>
                <a:spcPct val="80000"/>
              </a:lnSpc>
            </a:pPr>
            <a:r>
              <a:rPr lang="en-US" dirty="0" smtClean="0">
                <a:solidFill>
                  <a:schemeClr val="tx1"/>
                </a:solidFill>
                <a:effectLst/>
              </a:rPr>
              <a:t>	</a:t>
            </a:r>
            <a:r>
              <a:rPr lang="en-US" dirty="0" err="1" smtClean="0">
                <a:solidFill>
                  <a:schemeClr val="tx1"/>
                </a:solidFill>
                <a:effectLst/>
              </a:rPr>
              <a:t>v_description</a:t>
            </a:r>
            <a:r>
              <a:rPr lang="en-US" dirty="0" smtClean="0">
                <a:solidFill>
                  <a:schemeClr val="tx1"/>
                </a:solidFill>
                <a:effectLst/>
              </a:rPr>
              <a:t> VARCHAR2(50);</a:t>
            </a:r>
          </a:p>
          <a:p>
            <a:pPr marL="2136775" lvl="2" indent="-568325" algn="l" eaLnBrk="1" hangingPunct="1">
              <a:lnSpc>
                <a:spcPct val="80000"/>
              </a:lnSpc>
            </a:pPr>
            <a:r>
              <a:rPr lang="en-US" dirty="0" smtClean="0">
                <a:solidFill>
                  <a:schemeClr val="tx1"/>
                </a:solidFill>
                <a:effectLst/>
              </a:rPr>
              <a:t>BEGIN</a:t>
            </a:r>
          </a:p>
          <a:p>
            <a:pPr marL="2136775" lvl="2" indent="-568325" algn="l" eaLnBrk="1" hangingPunct="1">
              <a:lnSpc>
                <a:spcPct val="80000"/>
              </a:lnSpc>
            </a:pPr>
            <a:r>
              <a:rPr lang="en-US" dirty="0" smtClean="0">
                <a:solidFill>
                  <a:schemeClr val="tx1"/>
                </a:solidFill>
                <a:effectLst/>
              </a:rPr>
              <a:t>	</a:t>
            </a:r>
            <a:r>
              <a:rPr lang="en-US" dirty="0" err="1" smtClean="0">
                <a:solidFill>
                  <a:schemeClr val="tx1"/>
                </a:solidFill>
                <a:effectLst/>
              </a:rPr>
              <a:t>v_description</a:t>
            </a:r>
            <a:r>
              <a:rPr lang="en-US" dirty="0" smtClean="0">
                <a:solidFill>
                  <a:schemeClr val="tx1"/>
                </a:solidFill>
                <a:effectLst/>
              </a:rPr>
              <a:t> := </a:t>
            </a:r>
            <a:r>
              <a:rPr lang="en-US" dirty="0" err="1" smtClean="0">
                <a:solidFill>
                  <a:schemeClr val="tx1"/>
                </a:solidFill>
                <a:effectLst/>
              </a:rPr>
              <a:t>show_description</a:t>
            </a:r>
            <a:r>
              <a:rPr lang="en-US" dirty="0" smtClean="0">
                <a:solidFill>
                  <a:schemeClr val="tx1"/>
                </a:solidFill>
                <a:effectLst/>
              </a:rPr>
              <a:t>(&amp;</a:t>
            </a:r>
            <a:r>
              <a:rPr lang="en-US" dirty="0" err="1" smtClean="0">
                <a:solidFill>
                  <a:schemeClr val="tx1"/>
                </a:solidFill>
                <a:effectLst/>
              </a:rPr>
              <a:t>sv_cnumber</a:t>
            </a:r>
            <a:r>
              <a:rPr lang="en-US" dirty="0" smtClean="0">
                <a:solidFill>
                  <a:schemeClr val="tx1"/>
                </a:solidFill>
                <a:effectLst/>
              </a:rPr>
              <a:t>);</a:t>
            </a:r>
          </a:p>
          <a:p>
            <a:pPr marL="2136775" lvl="2" indent="-568325" algn="l" eaLnBrk="1" hangingPunct="1">
              <a:lnSpc>
                <a:spcPct val="80000"/>
              </a:lnSpc>
            </a:pPr>
            <a:r>
              <a:rPr lang="en-US" dirty="0" smtClean="0">
                <a:solidFill>
                  <a:schemeClr val="tx1"/>
                </a:solidFill>
                <a:effectLst/>
              </a:rPr>
              <a:t>	DBMS_OUTPUT.PUT_LINE(</a:t>
            </a:r>
            <a:r>
              <a:rPr lang="en-US" dirty="0" err="1" smtClean="0">
                <a:solidFill>
                  <a:schemeClr val="tx1"/>
                </a:solidFill>
                <a:effectLst/>
              </a:rPr>
              <a:t>v_description</a:t>
            </a:r>
            <a:r>
              <a:rPr lang="en-US" dirty="0" smtClean="0">
                <a:solidFill>
                  <a:schemeClr val="tx1"/>
                </a:solidFill>
                <a:effectLst/>
              </a:rPr>
              <a:t>);</a:t>
            </a:r>
          </a:p>
          <a:p>
            <a:pPr marL="2136775" lvl="2" indent="-568325" algn="l" eaLnBrk="1" hangingPunct="1">
              <a:lnSpc>
                <a:spcPct val="80000"/>
              </a:lnSpc>
            </a:pPr>
            <a:r>
              <a:rPr lang="en-US" dirty="0" smtClean="0">
                <a:solidFill>
                  <a:schemeClr val="tx1"/>
                </a:solidFill>
                <a:effectLst/>
              </a:rPr>
              <a:t>END;</a:t>
            </a:r>
          </a:p>
          <a:p>
            <a:pPr marL="2136775" lvl="2" indent="-568325" algn="l" eaLnBrk="1" hangingPunct="1">
              <a:lnSpc>
                <a:spcPct val="80000"/>
              </a:lnSpc>
            </a:pPr>
            <a:endParaRPr lang="en-US" sz="1200" dirty="0" smtClean="0">
              <a:solidFill>
                <a:schemeClr val="tx1"/>
              </a:solidFill>
              <a:effectLst/>
            </a:endParaRPr>
          </a:p>
          <a:p>
            <a:pPr marL="742950" indent="-571500" algn="l" eaLnBrk="1" hangingPunct="1">
              <a:lnSpc>
                <a:spcPct val="80000"/>
              </a:lnSpc>
              <a:buFontTx/>
              <a:buChar char="•"/>
            </a:pPr>
            <a:r>
              <a:rPr lang="en-US" sz="2800" b="1" dirty="0" smtClean="0">
                <a:solidFill>
                  <a:schemeClr val="tx1"/>
                </a:solidFill>
                <a:effectLst/>
              </a:rPr>
              <a:t>In a SQL statement</a:t>
            </a:r>
          </a:p>
          <a:p>
            <a:pPr marL="742950" indent="-571500" algn="l" eaLnBrk="1" hangingPunct="1">
              <a:lnSpc>
                <a:spcPct val="80000"/>
              </a:lnSpc>
              <a:buFontTx/>
              <a:buChar char="•"/>
            </a:pPr>
            <a:endParaRPr lang="en-US" sz="2800" b="1" dirty="0" smtClean="0">
              <a:solidFill>
                <a:schemeClr val="tx1"/>
              </a:solidFill>
              <a:effectLst/>
            </a:endParaRPr>
          </a:p>
          <a:p>
            <a:pPr marL="2136775" lvl="2" indent="-568325" algn="l" eaLnBrk="1" hangingPunct="1">
              <a:lnSpc>
                <a:spcPct val="80000"/>
              </a:lnSpc>
            </a:pPr>
            <a:r>
              <a:rPr lang="en-US" dirty="0" smtClean="0">
                <a:solidFill>
                  <a:schemeClr val="tx1"/>
                </a:solidFill>
                <a:effectLst/>
              </a:rPr>
              <a:t>SELECT </a:t>
            </a:r>
            <a:r>
              <a:rPr lang="en-US" dirty="0" err="1" smtClean="0">
                <a:solidFill>
                  <a:schemeClr val="tx1"/>
                </a:solidFill>
                <a:effectLst/>
              </a:rPr>
              <a:t>course_no</a:t>
            </a:r>
            <a:r>
              <a:rPr lang="en-US" dirty="0" smtClean="0">
                <a:solidFill>
                  <a:schemeClr val="tx1"/>
                </a:solidFill>
                <a:effectLst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effectLst/>
              </a:rPr>
              <a:t>show_description</a:t>
            </a:r>
            <a:r>
              <a:rPr lang="en-US" dirty="0" smtClean="0">
                <a:solidFill>
                  <a:schemeClr val="tx1"/>
                </a:solidFill>
                <a:effectLst/>
              </a:rPr>
              <a:t>(</a:t>
            </a:r>
            <a:r>
              <a:rPr lang="en-US" dirty="0" err="1" smtClean="0">
                <a:solidFill>
                  <a:schemeClr val="tx1"/>
                </a:solidFill>
                <a:effectLst/>
              </a:rPr>
              <a:t>course_no</a:t>
            </a:r>
            <a:r>
              <a:rPr lang="en-US" dirty="0" smtClean="0">
                <a:solidFill>
                  <a:schemeClr val="tx1"/>
                </a:solidFill>
                <a:effectLst/>
              </a:rPr>
              <a:t>)</a:t>
            </a:r>
          </a:p>
          <a:p>
            <a:pPr marL="2136775" lvl="2" indent="-568325" algn="l" eaLnBrk="1" hangingPunct="1">
              <a:lnSpc>
                <a:spcPct val="80000"/>
              </a:lnSpc>
            </a:pPr>
            <a:r>
              <a:rPr lang="en-US" dirty="0" smtClean="0">
                <a:solidFill>
                  <a:schemeClr val="tx1"/>
                </a:solidFill>
                <a:effectLst/>
              </a:rPr>
              <a:t>	FROM course;</a:t>
            </a:r>
          </a:p>
          <a:p>
            <a:pPr marL="742950" indent="-571500" algn="l" eaLnBrk="1" hangingPunct="1">
              <a:lnSpc>
                <a:spcPct val="80000"/>
              </a:lnSpc>
              <a:buFontTx/>
              <a:buChar char="•"/>
            </a:pPr>
            <a:endParaRPr lang="en-US" sz="4400" dirty="0" smtClean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368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0556" y="1177963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/>
          <p:nvPr/>
        </p:nvSpPr>
        <p:spPr>
          <a:xfrm>
            <a:off x="1090556" y="1181997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537879" y="1411941"/>
            <a:ext cx="7194176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2" y="0"/>
                </a:lnTo>
              </a:path>
            </a:pathLst>
          </a:custGeom>
          <a:ln w="76199">
            <a:solidFill>
              <a:srgbClr val="CCECF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/>
          <p:nvPr/>
        </p:nvSpPr>
        <p:spPr>
          <a:xfrm>
            <a:off x="537879" y="1479176"/>
            <a:ext cx="7328647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2" y="0"/>
                </a:lnTo>
              </a:path>
            </a:pathLst>
          </a:custGeom>
          <a:ln w="76199">
            <a:solidFill>
              <a:srgbClr val="98CCF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13148" y="668635"/>
            <a:ext cx="4438972" cy="687858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b="1" spc="-4" dirty="0"/>
              <a:t>P</a:t>
            </a:r>
            <a:r>
              <a:rPr b="1" spc="-9" dirty="0"/>
              <a:t>ro</a:t>
            </a:r>
            <a:r>
              <a:rPr b="1" spc="-4" dirty="0"/>
              <a:t>c</a:t>
            </a:r>
            <a:r>
              <a:rPr b="1" spc="-9" dirty="0"/>
              <a:t>e</a:t>
            </a:r>
            <a:r>
              <a:rPr b="1" spc="-13" dirty="0"/>
              <a:t>d</a:t>
            </a:r>
            <a:r>
              <a:rPr b="1" spc="-9" dirty="0"/>
              <a:t>ure</a:t>
            </a:r>
            <a:r>
              <a:rPr b="1" spc="-4" dirty="0"/>
              <a:t>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55576" y="1916832"/>
            <a:ext cx="7544921" cy="331202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4" dirty="0">
                <a:latin typeface="Arial"/>
                <a:cs typeface="Arial"/>
              </a:rPr>
              <a:t>The features </a:t>
            </a:r>
            <a:r>
              <a:rPr sz="1588" dirty="0">
                <a:latin typeface="Arial"/>
                <a:cs typeface="Arial"/>
              </a:rPr>
              <a:t>of a procedure</a:t>
            </a:r>
            <a:r>
              <a:rPr sz="1588" spc="-18" dirty="0">
                <a:latin typeface="Arial"/>
                <a:cs typeface="Arial"/>
              </a:rPr>
              <a:t> </a:t>
            </a:r>
            <a:r>
              <a:rPr sz="1588" spc="-4" dirty="0">
                <a:latin typeface="Arial"/>
                <a:cs typeface="Arial"/>
              </a:rPr>
              <a:t>are:</a:t>
            </a:r>
            <a:endParaRPr sz="1588" dirty="0">
              <a:latin typeface="Arial"/>
              <a:cs typeface="Arial"/>
            </a:endParaRPr>
          </a:p>
          <a:p>
            <a:pPr marL="313781" marR="95815" indent="-302575">
              <a:lnSpc>
                <a:spcPct val="150600"/>
              </a:lnSpc>
              <a:spcBef>
                <a:spcPts val="957"/>
              </a:spcBef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latin typeface="Arial"/>
                <a:cs typeface="Arial"/>
              </a:rPr>
              <a:t>It </a:t>
            </a:r>
            <a:r>
              <a:rPr sz="1588" dirty="0">
                <a:latin typeface="Arial"/>
                <a:cs typeface="Arial"/>
              </a:rPr>
              <a:t>is a sub </a:t>
            </a:r>
            <a:r>
              <a:rPr sz="1588" spc="-4" dirty="0">
                <a:latin typeface="Arial"/>
                <a:cs typeface="Arial"/>
              </a:rPr>
              <a:t>program </a:t>
            </a:r>
            <a:r>
              <a:rPr sz="1588" dirty="0">
                <a:latin typeface="Arial"/>
                <a:cs typeface="Arial"/>
              </a:rPr>
              <a:t>in </a:t>
            </a:r>
            <a:r>
              <a:rPr sz="1588" spc="-4" dirty="0">
                <a:latin typeface="Arial"/>
                <a:cs typeface="Arial"/>
              </a:rPr>
              <a:t>the PL/SQL </a:t>
            </a:r>
            <a:r>
              <a:rPr sz="1588" dirty="0">
                <a:latin typeface="Arial"/>
                <a:cs typeface="Arial"/>
              </a:rPr>
              <a:t>block, which can </a:t>
            </a:r>
            <a:r>
              <a:rPr sz="1588" spc="-4" dirty="0">
                <a:latin typeface="Arial"/>
                <a:cs typeface="Arial"/>
              </a:rPr>
              <a:t>perform </a:t>
            </a:r>
            <a:r>
              <a:rPr sz="1588" dirty="0">
                <a:latin typeface="Arial"/>
                <a:cs typeface="Arial"/>
              </a:rPr>
              <a:t>a </a:t>
            </a:r>
            <a:r>
              <a:rPr sz="1588" spc="-4" dirty="0">
                <a:latin typeface="Arial"/>
                <a:cs typeface="Arial"/>
              </a:rPr>
              <a:t>specific task when  invoked explicitly with </a:t>
            </a:r>
            <a:r>
              <a:rPr sz="1588" dirty="0">
                <a:latin typeface="Arial"/>
                <a:cs typeface="Arial"/>
              </a:rPr>
              <a:t>or </a:t>
            </a:r>
            <a:r>
              <a:rPr sz="1588" spc="-4" dirty="0">
                <a:latin typeface="Arial"/>
                <a:cs typeface="Arial"/>
              </a:rPr>
              <a:t>without</a:t>
            </a:r>
            <a:r>
              <a:rPr sz="1588" spc="-13" dirty="0">
                <a:latin typeface="Arial"/>
                <a:cs typeface="Arial"/>
              </a:rPr>
              <a:t> </a:t>
            </a:r>
            <a:r>
              <a:rPr sz="1588" spc="-4" dirty="0">
                <a:latin typeface="Arial"/>
                <a:cs typeface="Arial"/>
              </a:rPr>
              <a:t>parameter.</a:t>
            </a:r>
            <a:endParaRPr sz="1588" dirty="0">
              <a:latin typeface="Arial"/>
              <a:cs typeface="Arial"/>
            </a:endParaRPr>
          </a:p>
          <a:p>
            <a:pPr>
              <a:spcBef>
                <a:spcPts val="44"/>
              </a:spcBef>
              <a:buFont typeface="Arial"/>
              <a:buChar char="•"/>
            </a:pPr>
            <a:endParaRPr sz="1632" dirty="0">
              <a:latin typeface="Times New Roman"/>
              <a:cs typeface="Times New Roman"/>
            </a:endParaRPr>
          </a:p>
          <a:p>
            <a:pPr marL="313221" indent="-302575"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latin typeface="Arial"/>
                <a:cs typeface="Arial"/>
              </a:rPr>
              <a:t>It </a:t>
            </a:r>
            <a:r>
              <a:rPr sz="1588" dirty="0">
                <a:latin typeface="Arial"/>
                <a:cs typeface="Arial"/>
              </a:rPr>
              <a:t>has two </a:t>
            </a:r>
            <a:r>
              <a:rPr sz="1588" spc="-4" dirty="0">
                <a:latin typeface="Arial"/>
                <a:cs typeface="Arial"/>
              </a:rPr>
              <a:t>parts, specification </a:t>
            </a:r>
            <a:r>
              <a:rPr sz="1588" dirty="0">
                <a:latin typeface="Arial"/>
                <a:cs typeface="Arial"/>
              </a:rPr>
              <a:t>and</a:t>
            </a:r>
            <a:r>
              <a:rPr sz="1588" spc="-22" dirty="0">
                <a:latin typeface="Arial"/>
                <a:cs typeface="Arial"/>
              </a:rPr>
              <a:t> </a:t>
            </a:r>
            <a:r>
              <a:rPr sz="1588" spc="-4" dirty="0">
                <a:latin typeface="Arial"/>
                <a:cs typeface="Arial"/>
              </a:rPr>
              <a:t>body:</a:t>
            </a:r>
            <a:endParaRPr sz="1588" dirty="0">
              <a:latin typeface="Arial"/>
              <a:cs typeface="Arial"/>
            </a:endParaRPr>
          </a:p>
          <a:p>
            <a:pPr marL="666786" marR="4483" lvl="1" indent="-252146">
              <a:lnSpc>
                <a:spcPct val="158900"/>
              </a:lnSpc>
              <a:spcBef>
                <a:spcPts val="635"/>
              </a:spcBef>
              <a:buChar char="–"/>
              <a:tabLst>
                <a:tab pos="666225" algn="l"/>
                <a:tab pos="666786" algn="l"/>
              </a:tabLst>
            </a:pPr>
            <a:r>
              <a:rPr sz="1588" spc="66" dirty="0">
                <a:latin typeface="Arial"/>
                <a:cs typeface="Arial"/>
              </a:rPr>
              <a:t>Specification: </a:t>
            </a:r>
            <a:r>
              <a:rPr sz="1588" spc="-4" dirty="0">
                <a:latin typeface="Arial"/>
                <a:cs typeface="Arial"/>
              </a:rPr>
              <a:t>This section begins with the keyword </a:t>
            </a:r>
            <a:r>
              <a:rPr sz="1588" spc="-9" dirty="0">
                <a:latin typeface="Courier New"/>
                <a:cs typeface="Courier New"/>
              </a:rPr>
              <a:t>Procedure</a:t>
            </a:r>
            <a:r>
              <a:rPr sz="1588" spc="-521" dirty="0">
                <a:latin typeface="Courier New"/>
                <a:cs typeface="Courier New"/>
              </a:rPr>
              <a:t> </a:t>
            </a:r>
            <a:r>
              <a:rPr sz="1588" spc="-4" dirty="0">
                <a:latin typeface="Arial"/>
                <a:cs typeface="Arial"/>
              </a:rPr>
              <a:t>followed </a:t>
            </a:r>
            <a:r>
              <a:rPr sz="1588" dirty="0">
                <a:latin typeface="Arial"/>
                <a:cs typeface="Arial"/>
              </a:rPr>
              <a:t>by  </a:t>
            </a:r>
            <a:r>
              <a:rPr sz="1588" spc="-4" dirty="0">
                <a:latin typeface="Arial"/>
                <a:cs typeface="Arial"/>
              </a:rPr>
              <a:t>its </a:t>
            </a:r>
            <a:r>
              <a:rPr sz="1588" dirty="0">
                <a:latin typeface="Arial"/>
                <a:cs typeface="Arial"/>
              </a:rPr>
              <a:t>name and </a:t>
            </a:r>
            <a:r>
              <a:rPr sz="1588" spc="-4" dirty="0">
                <a:latin typeface="Arial"/>
                <a:cs typeface="Arial"/>
              </a:rPr>
              <a:t>parameter </a:t>
            </a:r>
            <a:r>
              <a:rPr sz="1588" dirty="0">
                <a:latin typeface="Arial"/>
                <a:cs typeface="Arial"/>
              </a:rPr>
              <a:t>list</a:t>
            </a:r>
            <a:r>
              <a:rPr sz="1588" spc="-18" dirty="0">
                <a:latin typeface="Arial"/>
                <a:cs typeface="Arial"/>
              </a:rPr>
              <a:t> </a:t>
            </a:r>
            <a:r>
              <a:rPr sz="1588" spc="-4" dirty="0">
                <a:latin typeface="Arial"/>
                <a:cs typeface="Arial"/>
              </a:rPr>
              <a:t>(optional).</a:t>
            </a:r>
            <a:endParaRPr sz="1588" dirty="0">
              <a:latin typeface="Arial"/>
              <a:cs typeface="Arial"/>
            </a:endParaRPr>
          </a:p>
          <a:p>
            <a:pPr marL="666786" marR="261671" lvl="1" indent="-252146">
              <a:lnSpc>
                <a:spcPct val="150600"/>
              </a:lnSpc>
              <a:spcBef>
                <a:spcPts val="794"/>
              </a:spcBef>
              <a:buChar char="–"/>
              <a:tabLst>
                <a:tab pos="666225" algn="l"/>
                <a:tab pos="666786" algn="l"/>
              </a:tabLst>
            </a:pPr>
            <a:r>
              <a:rPr sz="1588" spc="84" dirty="0">
                <a:latin typeface="Arial"/>
                <a:cs typeface="Arial"/>
              </a:rPr>
              <a:t>Body: </a:t>
            </a:r>
            <a:r>
              <a:rPr sz="1588" spc="-4" dirty="0">
                <a:latin typeface="Arial"/>
                <a:cs typeface="Arial"/>
              </a:rPr>
              <a:t>Procedure body begins with the keyword </a:t>
            </a:r>
            <a:r>
              <a:rPr sz="1588" spc="-9" dirty="0">
                <a:latin typeface="Courier New"/>
                <a:cs typeface="Courier New"/>
              </a:rPr>
              <a:t>IS/AS</a:t>
            </a:r>
            <a:r>
              <a:rPr sz="1588" spc="-9" dirty="0">
                <a:latin typeface="Arial"/>
                <a:cs typeface="Arial"/>
              </a:rPr>
              <a:t>, </a:t>
            </a:r>
            <a:r>
              <a:rPr sz="1588" dirty="0">
                <a:latin typeface="Arial"/>
                <a:cs typeface="Arial"/>
              </a:rPr>
              <a:t>and </a:t>
            </a:r>
            <a:r>
              <a:rPr sz="1588" spc="-4" dirty="0">
                <a:latin typeface="Arial"/>
                <a:cs typeface="Arial"/>
              </a:rPr>
              <a:t>ends with the  keyword </a:t>
            </a:r>
            <a:r>
              <a:rPr sz="1588" spc="-4" dirty="0">
                <a:latin typeface="Courier New"/>
                <a:cs typeface="Courier New"/>
              </a:rPr>
              <a:t>END</a:t>
            </a:r>
            <a:r>
              <a:rPr sz="1588" spc="-521" dirty="0">
                <a:latin typeface="Courier New"/>
                <a:cs typeface="Courier New"/>
              </a:rPr>
              <a:t> </a:t>
            </a:r>
            <a:r>
              <a:rPr sz="1588" spc="-4" dirty="0">
                <a:latin typeface="Arial"/>
                <a:cs typeface="Arial"/>
              </a:rPr>
              <a:t>followed </a:t>
            </a:r>
            <a:r>
              <a:rPr sz="1588" dirty="0">
                <a:latin typeface="Arial"/>
                <a:cs typeface="Arial"/>
              </a:rPr>
              <a:t>by </a:t>
            </a:r>
            <a:r>
              <a:rPr sz="1588" spc="-4" dirty="0">
                <a:latin typeface="Arial"/>
                <a:cs typeface="Arial"/>
              </a:rPr>
              <a:t>the procedure name (optional).</a:t>
            </a:r>
            <a:endParaRPr sz="1588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8382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0556" y="1177963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/>
          <p:nvPr/>
        </p:nvSpPr>
        <p:spPr>
          <a:xfrm>
            <a:off x="1090556" y="1181997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537879" y="1411941"/>
            <a:ext cx="7194176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2" y="0"/>
                </a:lnTo>
              </a:path>
            </a:pathLst>
          </a:custGeom>
          <a:ln w="76199">
            <a:solidFill>
              <a:srgbClr val="CCECF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/>
          <p:nvPr/>
        </p:nvSpPr>
        <p:spPr>
          <a:xfrm>
            <a:off x="537879" y="1479176"/>
            <a:ext cx="7328647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2" y="0"/>
                </a:lnTo>
              </a:path>
            </a:pathLst>
          </a:custGeom>
          <a:ln w="76199">
            <a:solidFill>
              <a:srgbClr val="98CCF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16991" y="348652"/>
            <a:ext cx="8183387" cy="687858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spc="-4" dirty="0"/>
              <a:t>Creating Procedures:</a:t>
            </a:r>
            <a:r>
              <a:rPr spc="-71" dirty="0"/>
              <a:t> </a:t>
            </a:r>
            <a:r>
              <a:rPr spc="-4" dirty="0"/>
              <a:t>Syntax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42500" y="1539243"/>
            <a:ext cx="5728447" cy="1143247"/>
          </a:xfrm>
          <a:prstGeom prst="rect">
            <a:avLst/>
          </a:prstGeom>
        </p:spPr>
        <p:txBody>
          <a:bodyPr vert="horz" wrap="square" lIns="0" tIns="42022" rIns="0" bIns="0" rtlCol="0">
            <a:spAutoFit/>
          </a:bodyPr>
          <a:lstStyle/>
          <a:p>
            <a:pPr marL="11206">
              <a:spcBef>
                <a:spcPts val="331"/>
              </a:spcBef>
            </a:pPr>
            <a:r>
              <a:rPr sz="1588" spc="-4" dirty="0">
                <a:latin typeface="Arial"/>
                <a:cs typeface="Arial"/>
              </a:rPr>
              <a:t>The syntax for writing </a:t>
            </a:r>
            <a:r>
              <a:rPr sz="1588" dirty="0">
                <a:latin typeface="Arial"/>
                <a:cs typeface="Arial"/>
              </a:rPr>
              <a:t>a</a:t>
            </a:r>
            <a:r>
              <a:rPr sz="1588" spc="-13" dirty="0">
                <a:latin typeface="Arial"/>
                <a:cs typeface="Arial"/>
              </a:rPr>
              <a:t> </a:t>
            </a:r>
            <a:r>
              <a:rPr sz="1588" dirty="0">
                <a:latin typeface="Arial"/>
                <a:cs typeface="Arial"/>
              </a:rPr>
              <a:t>procedure:</a:t>
            </a:r>
            <a:endParaRPr sz="1588">
              <a:latin typeface="Arial"/>
              <a:cs typeface="Arial"/>
            </a:endParaRPr>
          </a:p>
          <a:p>
            <a:pPr marL="414640">
              <a:spcBef>
                <a:spcPts val="243"/>
              </a:spcBef>
            </a:pPr>
            <a:r>
              <a:rPr sz="1588" spc="-9" dirty="0">
                <a:latin typeface="Courier New"/>
                <a:cs typeface="Courier New"/>
              </a:rPr>
              <a:t>CREATE OR REPLACE PROCEDURE</a:t>
            </a:r>
            <a:r>
              <a:rPr sz="1588" spc="-13" dirty="0">
                <a:latin typeface="Courier New"/>
                <a:cs typeface="Courier New"/>
              </a:rPr>
              <a:t> </a:t>
            </a:r>
            <a:r>
              <a:rPr sz="1588" spc="-9" dirty="0">
                <a:latin typeface="Courier New"/>
                <a:cs typeface="Courier New"/>
              </a:rPr>
              <a:t>&lt;PROCEDURE_NAME&gt;</a:t>
            </a:r>
            <a:endParaRPr sz="1588">
              <a:latin typeface="Courier New"/>
              <a:cs typeface="Courier New"/>
            </a:endParaRPr>
          </a:p>
          <a:p>
            <a:pPr marL="414640" marR="1329649">
              <a:lnSpc>
                <a:spcPct val="120300"/>
              </a:lnSpc>
              <a:spcBef>
                <a:spcPts val="4"/>
              </a:spcBef>
            </a:pPr>
            <a:r>
              <a:rPr sz="1588" spc="-9" dirty="0">
                <a:latin typeface="Courier New"/>
                <a:cs typeface="Courier New"/>
              </a:rPr>
              <a:t>(&lt;PARAMETER&gt; [MODE] &lt;DATA TYPE&gt;,)  IS/AS</a:t>
            </a:r>
            <a:endParaRPr sz="1588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5913" y="2667454"/>
            <a:ext cx="3528172" cy="177551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135598">
              <a:lnSpc>
                <a:spcPct val="120600"/>
              </a:lnSpc>
              <a:spcBef>
                <a:spcPts val="88"/>
              </a:spcBef>
            </a:pPr>
            <a:r>
              <a:rPr sz="1588" spc="-9" dirty="0">
                <a:latin typeface="Courier New"/>
                <a:cs typeface="Courier New"/>
              </a:rPr>
              <a:t>[LOCAL VARIABLE DECLARATION]  BEGIN</a:t>
            </a:r>
            <a:endParaRPr sz="1588">
              <a:latin typeface="Courier New"/>
              <a:cs typeface="Courier New"/>
            </a:endParaRPr>
          </a:p>
          <a:p>
            <a:pPr marL="252146" marR="4483" indent="10646">
              <a:lnSpc>
                <a:spcPct val="120300"/>
              </a:lnSpc>
            </a:pPr>
            <a:r>
              <a:rPr sz="1588" spc="-9" dirty="0">
                <a:latin typeface="Courier New"/>
                <a:cs typeface="Courier New"/>
              </a:rPr>
              <a:t>PL/SQL EXECUTABLE STATEMENT  [EXCEPTION]</a:t>
            </a:r>
            <a:endParaRPr sz="1588">
              <a:latin typeface="Courier New"/>
              <a:cs typeface="Courier New"/>
            </a:endParaRPr>
          </a:p>
          <a:p>
            <a:pPr marL="11206" marR="617477" indent="403433">
              <a:lnSpc>
                <a:spcPct val="120300"/>
              </a:lnSpc>
              <a:spcBef>
                <a:spcPts val="4"/>
              </a:spcBef>
            </a:pPr>
            <a:r>
              <a:rPr sz="1588" spc="-9" dirty="0">
                <a:latin typeface="Courier New"/>
                <a:cs typeface="Courier New"/>
              </a:rPr>
              <a:t>[EXCEPTION HANDLERS]  </a:t>
            </a:r>
            <a:r>
              <a:rPr sz="1588" spc="-4" dirty="0">
                <a:latin typeface="Courier New"/>
                <a:cs typeface="Courier New"/>
              </a:rPr>
              <a:t>END </a:t>
            </a:r>
            <a:r>
              <a:rPr sz="1588" spc="-9" dirty="0">
                <a:latin typeface="Courier New"/>
                <a:cs typeface="Courier New"/>
              </a:rPr>
              <a:t>[PROGRAM UNIT</a:t>
            </a:r>
            <a:r>
              <a:rPr sz="1588" spc="-62" dirty="0">
                <a:latin typeface="Courier New"/>
                <a:cs typeface="Courier New"/>
              </a:rPr>
              <a:t> </a:t>
            </a:r>
            <a:r>
              <a:rPr sz="1588" spc="-9" dirty="0">
                <a:latin typeface="Courier New"/>
                <a:cs typeface="Courier New"/>
              </a:rPr>
              <a:t>NAME];</a:t>
            </a:r>
            <a:endParaRPr sz="1588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59817" y="2164304"/>
            <a:ext cx="2942888" cy="8612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3" name="object 13"/>
          <p:cNvSpPr/>
          <p:nvPr/>
        </p:nvSpPr>
        <p:spPr>
          <a:xfrm>
            <a:off x="5259817" y="2164303"/>
            <a:ext cx="2943224" cy="861732"/>
          </a:xfrm>
          <a:custGeom>
            <a:avLst/>
            <a:gdLst/>
            <a:ahLst/>
            <a:cxnLst/>
            <a:rect l="l" t="t" r="r" b="b"/>
            <a:pathLst>
              <a:path w="3335654" h="976629">
                <a:moveTo>
                  <a:pt x="1176527" y="442721"/>
                </a:moveTo>
                <a:lnTo>
                  <a:pt x="1106473" y="443880"/>
                </a:lnTo>
                <a:lnTo>
                  <a:pt x="1040008" y="447239"/>
                </a:lnTo>
                <a:lnTo>
                  <a:pt x="978023" y="452618"/>
                </a:lnTo>
                <a:lnTo>
                  <a:pt x="921410" y="459839"/>
                </a:lnTo>
                <a:lnTo>
                  <a:pt x="871061" y="468725"/>
                </a:lnTo>
                <a:lnTo>
                  <a:pt x="827867" y="479096"/>
                </a:lnTo>
                <a:lnTo>
                  <a:pt x="766511" y="503584"/>
                </a:lnTo>
                <a:lnTo>
                  <a:pt x="744473" y="531875"/>
                </a:lnTo>
                <a:lnTo>
                  <a:pt x="744473" y="886967"/>
                </a:lnTo>
                <a:lnTo>
                  <a:pt x="792720" y="928067"/>
                </a:lnTo>
                <a:lnTo>
                  <a:pt x="871061" y="950118"/>
                </a:lnTo>
                <a:lnTo>
                  <a:pt x="921410" y="959004"/>
                </a:lnTo>
                <a:lnTo>
                  <a:pt x="978023" y="966225"/>
                </a:lnTo>
                <a:lnTo>
                  <a:pt x="1040008" y="971604"/>
                </a:lnTo>
                <a:lnTo>
                  <a:pt x="1106473" y="974962"/>
                </a:lnTo>
                <a:lnTo>
                  <a:pt x="1176527" y="976121"/>
                </a:lnTo>
                <a:lnTo>
                  <a:pt x="2903219" y="976121"/>
                </a:lnTo>
                <a:lnTo>
                  <a:pt x="2973274" y="974962"/>
                </a:lnTo>
                <a:lnTo>
                  <a:pt x="3039739" y="971604"/>
                </a:lnTo>
                <a:lnTo>
                  <a:pt x="3101724" y="966225"/>
                </a:lnTo>
                <a:lnTo>
                  <a:pt x="3158337" y="959004"/>
                </a:lnTo>
                <a:lnTo>
                  <a:pt x="3208686" y="950118"/>
                </a:lnTo>
                <a:lnTo>
                  <a:pt x="3251880" y="939747"/>
                </a:lnTo>
                <a:lnTo>
                  <a:pt x="3313236" y="915259"/>
                </a:lnTo>
                <a:lnTo>
                  <a:pt x="3335273" y="886967"/>
                </a:lnTo>
                <a:lnTo>
                  <a:pt x="3335273" y="531875"/>
                </a:lnTo>
                <a:lnTo>
                  <a:pt x="3287027" y="490775"/>
                </a:lnTo>
                <a:lnTo>
                  <a:pt x="3208686" y="468725"/>
                </a:lnTo>
                <a:lnTo>
                  <a:pt x="3158337" y="459839"/>
                </a:lnTo>
                <a:lnTo>
                  <a:pt x="3101724" y="452618"/>
                </a:lnTo>
                <a:lnTo>
                  <a:pt x="3039739" y="447239"/>
                </a:lnTo>
                <a:lnTo>
                  <a:pt x="2973274" y="443880"/>
                </a:lnTo>
                <a:lnTo>
                  <a:pt x="2903219" y="442721"/>
                </a:lnTo>
                <a:lnTo>
                  <a:pt x="1824227" y="442721"/>
                </a:lnTo>
                <a:lnTo>
                  <a:pt x="0" y="0"/>
                </a:lnTo>
                <a:lnTo>
                  <a:pt x="1176527" y="442721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4" name="object 14"/>
          <p:cNvSpPr txBox="1"/>
          <p:nvPr/>
        </p:nvSpPr>
        <p:spPr>
          <a:xfrm>
            <a:off x="6421879" y="2651317"/>
            <a:ext cx="127747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62" dirty="0">
                <a:latin typeface="Arial"/>
                <a:cs typeface="Arial"/>
              </a:rPr>
              <a:t>Specification</a:t>
            </a:r>
            <a:endParaRPr sz="1588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46320" y="2756647"/>
            <a:ext cx="398033" cy="18825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/>
          <p:nvPr/>
        </p:nvSpPr>
        <p:spPr>
          <a:xfrm>
            <a:off x="5302848" y="3664324"/>
            <a:ext cx="2967093" cy="4874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/>
          <p:nvPr/>
        </p:nvSpPr>
        <p:spPr>
          <a:xfrm>
            <a:off x="5302847" y="3664323"/>
            <a:ext cx="2967318" cy="487456"/>
          </a:xfrm>
          <a:custGeom>
            <a:avLst/>
            <a:gdLst/>
            <a:ahLst/>
            <a:cxnLst/>
            <a:rect l="l" t="t" r="r" b="b"/>
            <a:pathLst>
              <a:path w="3362959" h="552450">
                <a:moveTo>
                  <a:pt x="1648205" y="0"/>
                </a:moveTo>
                <a:lnTo>
                  <a:pt x="1578996" y="1867"/>
                </a:lnTo>
                <a:lnTo>
                  <a:pt x="1514582" y="7227"/>
                </a:lnTo>
                <a:lnTo>
                  <a:pt x="1456329" y="15711"/>
                </a:lnTo>
                <a:lnTo>
                  <a:pt x="1405604" y="26955"/>
                </a:lnTo>
                <a:lnTo>
                  <a:pt x="1363773" y="40592"/>
                </a:lnTo>
                <a:lnTo>
                  <a:pt x="1312257" y="73582"/>
                </a:lnTo>
                <a:lnTo>
                  <a:pt x="1305305" y="92201"/>
                </a:lnTo>
                <a:lnTo>
                  <a:pt x="0" y="150875"/>
                </a:lnTo>
                <a:lnTo>
                  <a:pt x="1305305" y="230123"/>
                </a:lnTo>
                <a:lnTo>
                  <a:pt x="1305305" y="460247"/>
                </a:lnTo>
                <a:lnTo>
                  <a:pt x="1312257" y="478867"/>
                </a:lnTo>
                <a:lnTo>
                  <a:pt x="1363773" y="511857"/>
                </a:lnTo>
                <a:lnTo>
                  <a:pt x="1405604" y="525494"/>
                </a:lnTo>
                <a:lnTo>
                  <a:pt x="1456329" y="536738"/>
                </a:lnTo>
                <a:lnTo>
                  <a:pt x="1514582" y="545222"/>
                </a:lnTo>
                <a:lnTo>
                  <a:pt x="1578996" y="550582"/>
                </a:lnTo>
                <a:lnTo>
                  <a:pt x="1648205" y="552449"/>
                </a:lnTo>
                <a:lnTo>
                  <a:pt x="3019805" y="552449"/>
                </a:lnTo>
                <a:lnTo>
                  <a:pt x="3088796" y="550582"/>
                </a:lnTo>
                <a:lnTo>
                  <a:pt x="3153108" y="545222"/>
                </a:lnTo>
                <a:lnTo>
                  <a:pt x="3211347" y="536738"/>
                </a:lnTo>
                <a:lnTo>
                  <a:pt x="3262121" y="525494"/>
                </a:lnTo>
                <a:lnTo>
                  <a:pt x="3304037" y="511857"/>
                </a:lnTo>
                <a:lnTo>
                  <a:pt x="3355722" y="478867"/>
                </a:lnTo>
                <a:lnTo>
                  <a:pt x="3362705" y="460247"/>
                </a:lnTo>
                <a:lnTo>
                  <a:pt x="3362705" y="92201"/>
                </a:lnTo>
                <a:lnTo>
                  <a:pt x="3335702" y="56257"/>
                </a:lnTo>
                <a:lnTo>
                  <a:pt x="3262121" y="26955"/>
                </a:lnTo>
                <a:lnTo>
                  <a:pt x="3211347" y="15711"/>
                </a:lnTo>
                <a:lnTo>
                  <a:pt x="3153108" y="7227"/>
                </a:lnTo>
                <a:lnTo>
                  <a:pt x="3088796" y="1867"/>
                </a:lnTo>
                <a:lnTo>
                  <a:pt x="3019805" y="0"/>
                </a:lnTo>
                <a:lnTo>
                  <a:pt x="1648205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8" name="object 18"/>
          <p:cNvSpPr txBox="1"/>
          <p:nvPr/>
        </p:nvSpPr>
        <p:spPr>
          <a:xfrm>
            <a:off x="7098940" y="3770786"/>
            <a:ext cx="52667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84" dirty="0">
                <a:latin typeface="Arial"/>
                <a:cs typeface="Arial"/>
              </a:rPr>
              <a:t>B</a:t>
            </a:r>
            <a:r>
              <a:rPr sz="1588" spc="79" dirty="0">
                <a:latin typeface="Arial"/>
                <a:cs typeface="Arial"/>
              </a:rPr>
              <a:t>od</a:t>
            </a:r>
            <a:r>
              <a:rPr sz="1588" spc="88" dirty="0">
                <a:latin typeface="Arial"/>
                <a:cs typeface="Arial"/>
              </a:rPr>
              <a:t>y</a:t>
            </a:r>
            <a:endParaRPr sz="1588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897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0556" y="1177963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/>
          <p:nvPr/>
        </p:nvSpPr>
        <p:spPr>
          <a:xfrm>
            <a:off x="1090556" y="1181997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537879" y="1411941"/>
            <a:ext cx="7194176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2" y="0"/>
                </a:lnTo>
              </a:path>
            </a:pathLst>
          </a:custGeom>
          <a:ln w="76199">
            <a:solidFill>
              <a:srgbClr val="CCECF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/>
          <p:nvPr/>
        </p:nvSpPr>
        <p:spPr>
          <a:xfrm>
            <a:off x="537879" y="1479176"/>
            <a:ext cx="7328647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2" y="0"/>
                </a:lnTo>
              </a:path>
            </a:pathLst>
          </a:custGeom>
          <a:ln w="76199">
            <a:solidFill>
              <a:srgbClr val="98CCF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0" y="343197"/>
            <a:ext cx="6518907" cy="687858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spc="-4" dirty="0"/>
              <a:t>Passing</a:t>
            </a:r>
            <a:r>
              <a:rPr spc="-66" dirty="0"/>
              <a:t> </a:t>
            </a:r>
            <a:r>
              <a:rPr spc="-4" dirty="0"/>
              <a:t>Parameters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42500" y="1527141"/>
            <a:ext cx="7256929" cy="425844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7704" marR="4483" indent="-307058">
              <a:lnSpc>
                <a:spcPct val="127200"/>
              </a:lnSpc>
              <a:spcBef>
                <a:spcPts val="88"/>
              </a:spcBef>
            </a:pPr>
            <a:r>
              <a:rPr sz="1588" spc="-4" dirty="0">
                <a:latin typeface="Arial"/>
                <a:cs typeface="Arial"/>
              </a:rPr>
              <a:t>Formal parameters </a:t>
            </a:r>
            <a:r>
              <a:rPr sz="1588" dirty="0">
                <a:latin typeface="Arial"/>
                <a:cs typeface="Arial"/>
              </a:rPr>
              <a:t>can have </a:t>
            </a:r>
            <a:r>
              <a:rPr sz="1588" spc="-4" dirty="0">
                <a:latin typeface="Arial"/>
                <a:cs typeface="Arial"/>
              </a:rPr>
              <a:t>three </a:t>
            </a:r>
            <a:r>
              <a:rPr sz="1588" dirty="0">
                <a:latin typeface="Arial"/>
                <a:cs typeface="Arial"/>
              </a:rPr>
              <a:t>modes: </a:t>
            </a:r>
            <a:r>
              <a:rPr sz="1588" spc="-4" dirty="0">
                <a:latin typeface="Courier New"/>
                <a:cs typeface="Courier New"/>
              </a:rPr>
              <a:t>IN</a:t>
            </a:r>
            <a:r>
              <a:rPr sz="1588" spc="-4" dirty="0">
                <a:latin typeface="Arial"/>
                <a:cs typeface="Arial"/>
              </a:rPr>
              <a:t>, </a:t>
            </a:r>
            <a:r>
              <a:rPr sz="1588" spc="-9" dirty="0">
                <a:latin typeface="Courier New"/>
                <a:cs typeface="Courier New"/>
              </a:rPr>
              <a:t>OUT</a:t>
            </a:r>
            <a:r>
              <a:rPr sz="1588" spc="-9" dirty="0">
                <a:latin typeface="Arial"/>
                <a:cs typeface="Arial"/>
              </a:rPr>
              <a:t>, </a:t>
            </a:r>
            <a:r>
              <a:rPr sz="1588" dirty="0">
                <a:latin typeface="Arial"/>
                <a:cs typeface="Arial"/>
              </a:rPr>
              <a:t>or </a:t>
            </a:r>
            <a:r>
              <a:rPr sz="1588" spc="-9" dirty="0">
                <a:latin typeface="Courier New"/>
                <a:cs typeface="Courier New"/>
              </a:rPr>
              <a:t>INOUT</a:t>
            </a:r>
            <a:r>
              <a:rPr sz="1588" spc="-9" dirty="0">
                <a:latin typeface="Arial"/>
                <a:cs typeface="Arial"/>
              </a:rPr>
              <a:t>. </a:t>
            </a:r>
            <a:r>
              <a:rPr sz="1588" spc="-4" dirty="0">
                <a:latin typeface="Arial"/>
                <a:cs typeface="Arial"/>
              </a:rPr>
              <a:t>Their features are  describe</a:t>
            </a:r>
            <a:r>
              <a:rPr sz="1588" spc="-9" dirty="0">
                <a:latin typeface="Arial"/>
                <a:cs typeface="Arial"/>
              </a:rPr>
              <a:t> </a:t>
            </a:r>
            <a:r>
              <a:rPr sz="1588" spc="-4" dirty="0">
                <a:latin typeface="Arial"/>
                <a:cs typeface="Arial"/>
              </a:rPr>
              <a:t>below:</a:t>
            </a:r>
            <a:endParaRPr sz="1588">
              <a:latin typeface="Arial"/>
              <a:cs typeface="Arial"/>
            </a:endParaRPr>
          </a:p>
          <a:p>
            <a:pPr marL="317704" indent="-307058">
              <a:spcBef>
                <a:spcPts val="1218"/>
              </a:spcBef>
              <a:buFont typeface="Courier New"/>
              <a:buChar char="•"/>
              <a:tabLst>
                <a:tab pos="317704" algn="l"/>
                <a:tab pos="318264" algn="l"/>
              </a:tabLst>
            </a:pPr>
            <a:r>
              <a:rPr sz="1588" b="1" spc="22" dirty="0">
                <a:latin typeface="Courier New"/>
                <a:cs typeface="Courier New"/>
              </a:rPr>
              <a:t>IN</a:t>
            </a:r>
            <a:r>
              <a:rPr sz="1588" spc="22" dirty="0">
                <a:latin typeface="Arial"/>
                <a:cs typeface="Arial"/>
              </a:rPr>
              <a:t>:</a:t>
            </a:r>
            <a:endParaRPr sz="1588">
              <a:latin typeface="Arial"/>
              <a:cs typeface="Arial"/>
            </a:endParaRPr>
          </a:p>
          <a:p>
            <a:pPr marL="670708" lvl="1" indent="-252706">
              <a:spcBef>
                <a:spcPts val="1478"/>
              </a:spcBef>
              <a:buChar char="–"/>
              <a:tabLst>
                <a:tab pos="670708" algn="l"/>
                <a:tab pos="671268" algn="l"/>
              </a:tabLst>
            </a:pPr>
            <a:r>
              <a:rPr sz="1588" spc="-4" dirty="0">
                <a:latin typeface="Arial"/>
                <a:cs typeface="Arial"/>
              </a:rPr>
              <a:t>Default</a:t>
            </a:r>
            <a:r>
              <a:rPr sz="1588" spc="-13" dirty="0">
                <a:latin typeface="Arial"/>
                <a:cs typeface="Arial"/>
              </a:rPr>
              <a:t> </a:t>
            </a:r>
            <a:r>
              <a:rPr sz="1588" dirty="0">
                <a:latin typeface="Arial"/>
                <a:cs typeface="Arial"/>
              </a:rPr>
              <a:t>mode</a:t>
            </a:r>
            <a:endParaRPr sz="1588">
              <a:latin typeface="Arial"/>
              <a:cs typeface="Arial"/>
            </a:endParaRPr>
          </a:p>
          <a:p>
            <a:pPr marL="670708" lvl="1" indent="-252706">
              <a:spcBef>
                <a:spcPts val="1350"/>
              </a:spcBef>
              <a:buChar char="–"/>
              <a:tabLst>
                <a:tab pos="670708" algn="l"/>
                <a:tab pos="671268" algn="l"/>
              </a:tabLst>
            </a:pPr>
            <a:r>
              <a:rPr sz="1588" spc="-4" dirty="0">
                <a:latin typeface="Arial"/>
                <a:cs typeface="Arial"/>
              </a:rPr>
              <a:t>Takes the value inside the</a:t>
            </a:r>
            <a:r>
              <a:rPr sz="1588" spc="-9" dirty="0">
                <a:latin typeface="Arial"/>
                <a:cs typeface="Arial"/>
              </a:rPr>
              <a:t> </a:t>
            </a:r>
            <a:r>
              <a:rPr sz="1588" dirty="0">
                <a:latin typeface="Arial"/>
                <a:cs typeface="Arial"/>
              </a:rPr>
              <a:t>program</a:t>
            </a:r>
            <a:endParaRPr sz="1588">
              <a:latin typeface="Arial"/>
              <a:cs typeface="Arial"/>
            </a:endParaRPr>
          </a:p>
          <a:p>
            <a:pPr marL="670708" lvl="1" indent="-252706">
              <a:spcBef>
                <a:spcPts val="1341"/>
              </a:spcBef>
              <a:buChar char="–"/>
              <a:tabLst>
                <a:tab pos="670708" algn="l"/>
                <a:tab pos="671268" algn="l"/>
              </a:tabLst>
            </a:pPr>
            <a:r>
              <a:rPr sz="1588" spc="-4" dirty="0">
                <a:latin typeface="Arial"/>
                <a:cs typeface="Arial"/>
              </a:rPr>
              <a:t>Cannot </a:t>
            </a:r>
            <a:r>
              <a:rPr sz="1588" dirty="0">
                <a:latin typeface="Arial"/>
                <a:cs typeface="Arial"/>
              </a:rPr>
              <a:t>be </a:t>
            </a:r>
            <a:r>
              <a:rPr sz="1588" spc="-4" dirty="0">
                <a:latin typeface="Arial"/>
                <a:cs typeface="Arial"/>
              </a:rPr>
              <a:t>changed inside the</a:t>
            </a:r>
            <a:r>
              <a:rPr sz="1588" spc="-9" dirty="0">
                <a:latin typeface="Arial"/>
                <a:cs typeface="Arial"/>
              </a:rPr>
              <a:t> </a:t>
            </a:r>
            <a:r>
              <a:rPr sz="1588" spc="-4" dirty="0">
                <a:latin typeface="Arial"/>
                <a:cs typeface="Arial"/>
              </a:rPr>
              <a:t>subprogram</a:t>
            </a:r>
            <a:endParaRPr sz="1588">
              <a:latin typeface="Arial"/>
              <a:cs typeface="Arial"/>
            </a:endParaRPr>
          </a:p>
          <a:p>
            <a:pPr marL="317704" indent="-307058">
              <a:spcBef>
                <a:spcPts val="1218"/>
              </a:spcBef>
              <a:buFont typeface="Courier New"/>
              <a:buChar char="•"/>
              <a:tabLst>
                <a:tab pos="317704" algn="l"/>
                <a:tab pos="318264" algn="l"/>
              </a:tabLst>
            </a:pPr>
            <a:r>
              <a:rPr sz="1588" b="1" spc="18" dirty="0">
                <a:latin typeface="Courier New"/>
                <a:cs typeface="Courier New"/>
              </a:rPr>
              <a:t>OUT</a:t>
            </a:r>
            <a:r>
              <a:rPr sz="1588" spc="18" dirty="0">
                <a:latin typeface="Arial"/>
                <a:cs typeface="Arial"/>
              </a:rPr>
              <a:t>:</a:t>
            </a:r>
            <a:endParaRPr sz="1588">
              <a:latin typeface="Arial"/>
              <a:cs typeface="Arial"/>
            </a:endParaRPr>
          </a:p>
          <a:p>
            <a:pPr marL="670708" lvl="1" indent="-252706">
              <a:spcBef>
                <a:spcPts val="1482"/>
              </a:spcBef>
              <a:buChar char="–"/>
              <a:tabLst>
                <a:tab pos="670708" algn="l"/>
                <a:tab pos="671268" algn="l"/>
              </a:tabLst>
            </a:pPr>
            <a:r>
              <a:rPr sz="1588" spc="-4" dirty="0">
                <a:latin typeface="Arial"/>
                <a:cs typeface="Arial"/>
              </a:rPr>
              <a:t>Takes the value </a:t>
            </a:r>
            <a:r>
              <a:rPr sz="1588" dirty="0">
                <a:latin typeface="Arial"/>
                <a:cs typeface="Arial"/>
              </a:rPr>
              <a:t>out of </a:t>
            </a:r>
            <a:r>
              <a:rPr sz="1588" spc="-4" dirty="0">
                <a:latin typeface="Arial"/>
                <a:cs typeface="Arial"/>
              </a:rPr>
              <a:t>the</a:t>
            </a:r>
            <a:r>
              <a:rPr sz="1588" spc="-18" dirty="0">
                <a:latin typeface="Arial"/>
                <a:cs typeface="Arial"/>
              </a:rPr>
              <a:t> </a:t>
            </a:r>
            <a:r>
              <a:rPr sz="1588" spc="-4" dirty="0">
                <a:latin typeface="Arial"/>
                <a:cs typeface="Arial"/>
              </a:rPr>
              <a:t>subprogram</a:t>
            </a:r>
            <a:endParaRPr sz="1588">
              <a:latin typeface="Arial"/>
              <a:cs typeface="Arial"/>
            </a:endParaRPr>
          </a:p>
          <a:p>
            <a:pPr marL="670708" lvl="1" indent="-252706">
              <a:spcBef>
                <a:spcPts val="1346"/>
              </a:spcBef>
              <a:buChar char="–"/>
              <a:tabLst>
                <a:tab pos="670708" algn="l"/>
                <a:tab pos="671268" algn="l"/>
              </a:tabLst>
            </a:pPr>
            <a:r>
              <a:rPr sz="1588" dirty="0">
                <a:latin typeface="Arial"/>
                <a:cs typeface="Arial"/>
              </a:rPr>
              <a:t>Can be </a:t>
            </a:r>
            <a:r>
              <a:rPr sz="1588" spc="-4" dirty="0">
                <a:latin typeface="Arial"/>
                <a:cs typeface="Arial"/>
              </a:rPr>
              <a:t>changed</a:t>
            </a:r>
            <a:r>
              <a:rPr sz="1588" spc="-22" dirty="0">
                <a:latin typeface="Arial"/>
                <a:cs typeface="Arial"/>
              </a:rPr>
              <a:t> </a:t>
            </a:r>
            <a:r>
              <a:rPr sz="1588" spc="-4" dirty="0">
                <a:latin typeface="Arial"/>
                <a:cs typeface="Arial"/>
              </a:rPr>
              <a:t>inside</a:t>
            </a:r>
            <a:endParaRPr sz="1588">
              <a:latin typeface="Arial"/>
              <a:cs typeface="Arial"/>
            </a:endParaRPr>
          </a:p>
          <a:p>
            <a:pPr marL="317704" marR="133357" indent="-307058">
              <a:lnSpc>
                <a:spcPct val="127200"/>
              </a:lnSpc>
              <a:spcBef>
                <a:spcPts val="702"/>
              </a:spcBef>
              <a:buFont typeface="Courier New"/>
              <a:buChar char="•"/>
              <a:tabLst>
                <a:tab pos="317704" algn="l"/>
                <a:tab pos="318264" algn="l"/>
              </a:tabLst>
            </a:pPr>
            <a:r>
              <a:rPr sz="1588" b="1" spc="9" dirty="0">
                <a:latin typeface="Courier New"/>
                <a:cs typeface="Courier New"/>
              </a:rPr>
              <a:t>INOUT</a:t>
            </a:r>
            <a:r>
              <a:rPr sz="1588" spc="9" dirty="0">
                <a:latin typeface="Arial"/>
                <a:cs typeface="Arial"/>
              </a:rPr>
              <a:t>: </a:t>
            </a:r>
            <a:r>
              <a:rPr sz="1588" spc="-4" dirty="0">
                <a:latin typeface="Arial"/>
                <a:cs typeface="Arial"/>
              </a:rPr>
              <a:t>Takes the value inside </a:t>
            </a:r>
            <a:r>
              <a:rPr sz="1588" dirty="0">
                <a:latin typeface="Arial"/>
                <a:cs typeface="Arial"/>
              </a:rPr>
              <a:t>a </a:t>
            </a:r>
            <a:r>
              <a:rPr sz="1588" spc="-4" dirty="0">
                <a:latin typeface="Arial"/>
                <a:cs typeface="Arial"/>
              </a:rPr>
              <a:t>subprogram </a:t>
            </a:r>
            <a:r>
              <a:rPr sz="1588" dirty="0">
                <a:latin typeface="Arial"/>
                <a:cs typeface="Arial"/>
              </a:rPr>
              <a:t>and brings </a:t>
            </a:r>
            <a:r>
              <a:rPr sz="1588" spc="-4" dirty="0">
                <a:latin typeface="Arial"/>
                <a:cs typeface="Arial"/>
              </a:rPr>
              <a:t>the value </a:t>
            </a:r>
            <a:r>
              <a:rPr sz="1588" dirty="0">
                <a:latin typeface="Arial"/>
                <a:cs typeface="Arial"/>
              </a:rPr>
              <a:t>out of </a:t>
            </a:r>
            <a:r>
              <a:rPr sz="1588" spc="-4" dirty="0">
                <a:latin typeface="Arial"/>
                <a:cs typeface="Arial"/>
              </a:rPr>
              <a:t>the  subprogram</a:t>
            </a:r>
            <a:endParaRPr sz="1588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9722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0556" y="1177963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/>
          <p:nvPr/>
        </p:nvSpPr>
        <p:spPr>
          <a:xfrm>
            <a:off x="1090556" y="1181997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537879" y="1411941"/>
            <a:ext cx="7194176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2" y="0"/>
                </a:lnTo>
              </a:path>
            </a:pathLst>
          </a:custGeom>
          <a:ln w="76199">
            <a:solidFill>
              <a:srgbClr val="CCECF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/>
          <p:nvPr/>
        </p:nvSpPr>
        <p:spPr>
          <a:xfrm>
            <a:off x="537879" y="1479176"/>
            <a:ext cx="7328647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2" y="0"/>
                </a:lnTo>
              </a:path>
            </a:pathLst>
          </a:custGeom>
          <a:ln w="76199">
            <a:solidFill>
              <a:srgbClr val="98CCF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52313" y="263389"/>
            <a:ext cx="8039372" cy="687858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spc="-4" dirty="0"/>
              <a:t>Passing Parameters</a:t>
            </a:r>
            <a:r>
              <a:rPr spc="-53" dirty="0"/>
              <a:t> </a:t>
            </a:r>
            <a:r>
              <a:rPr spc="-4" dirty="0"/>
              <a:t>(Contd.)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42501" y="1465956"/>
            <a:ext cx="5848910" cy="2940655"/>
          </a:xfrm>
          <a:prstGeom prst="rect">
            <a:avLst/>
          </a:prstGeom>
        </p:spPr>
        <p:txBody>
          <a:bodyPr vert="horz" wrap="square" lIns="0" tIns="115421" rIns="0" bIns="0" rtlCol="0">
            <a:spAutoFit/>
          </a:bodyPr>
          <a:lstStyle/>
          <a:p>
            <a:pPr marL="11206">
              <a:spcBef>
                <a:spcPts val="909"/>
              </a:spcBef>
            </a:pPr>
            <a:r>
              <a:rPr sz="1588" spc="-4" dirty="0">
                <a:latin typeface="Arial"/>
                <a:cs typeface="Arial"/>
              </a:rPr>
              <a:t>The syntax for writing procedure without </a:t>
            </a:r>
            <a:r>
              <a:rPr sz="1588" dirty="0">
                <a:latin typeface="Arial"/>
                <a:cs typeface="Arial"/>
              </a:rPr>
              <a:t>a</a:t>
            </a:r>
            <a:r>
              <a:rPr sz="1588" spc="4" dirty="0">
                <a:latin typeface="Arial"/>
                <a:cs typeface="Arial"/>
              </a:rPr>
              <a:t> </a:t>
            </a:r>
            <a:r>
              <a:rPr sz="1588" spc="-4" dirty="0">
                <a:latin typeface="Arial"/>
                <a:cs typeface="Arial"/>
              </a:rPr>
              <a:t>parameter:</a:t>
            </a:r>
            <a:endParaRPr sz="1588">
              <a:latin typeface="Arial"/>
              <a:cs typeface="Arial"/>
            </a:endParaRPr>
          </a:p>
          <a:p>
            <a:pPr marL="414640">
              <a:spcBef>
                <a:spcPts val="821"/>
              </a:spcBef>
            </a:pPr>
            <a:r>
              <a:rPr sz="1588" spc="-9" dirty="0">
                <a:latin typeface="Courier New"/>
                <a:cs typeface="Courier New"/>
              </a:rPr>
              <a:t>CREATE OR REPLACE PROCEDURE </a:t>
            </a:r>
            <a:r>
              <a:rPr sz="1588" i="1" spc="-9" dirty="0">
                <a:latin typeface="Courier New"/>
                <a:cs typeface="Courier New"/>
              </a:rPr>
              <a:t>procedure_name</a:t>
            </a:r>
            <a:r>
              <a:rPr sz="1588" i="1" spc="-13" dirty="0">
                <a:latin typeface="Courier New"/>
                <a:cs typeface="Courier New"/>
              </a:rPr>
              <a:t> </a:t>
            </a:r>
            <a:r>
              <a:rPr sz="1588" spc="-9" dirty="0">
                <a:latin typeface="Courier New"/>
                <a:cs typeface="Courier New"/>
              </a:rPr>
              <a:t>AS</a:t>
            </a:r>
            <a:endParaRPr sz="1588">
              <a:latin typeface="Courier New"/>
              <a:cs typeface="Courier New"/>
            </a:endParaRPr>
          </a:p>
          <a:p>
            <a:pPr marL="414640" marR="1450119">
              <a:lnSpc>
                <a:spcPts val="2868"/>
              </a:lnSpc>
              <a:spcBef>
                <a:spcPts val="251"/>
              </a:spcBef>
            </a:pPr>
            <a:r>
              <a:rPr sz="1588" spc="-9" dirty="0">
                <a:latin typeface="Courier New"/>
                <a:cs typeface="Courier New"/>
              </a:rPr>
              <a:t>/* Declarative section is here </a:t>
            </a:r>
            <a:r>
              <a:rPr sz="1588" spc="-4" dirty="0">
                <a:latin typeface="Courier New"/>
                <a:cs typeface="Courier New"/>
              </a:rPr>
              <a:t>*/  </a:t>
            </a:r>
            <a:r>
              <a:rPr sz="1588" spc="-9" dirty="0">
                <a:latin typeface="Courier New"/>
                <a:cs typeface="Courier New"/>
              </a:rPr>
              <a:t>BEGIN</a:t>
            </a:r>
            <a:endParaRPr sz="1588">
              <a:latin typeface="Courier New"/>
              <a:cs typeface="Courier New"/>
            </a:endParaRPr>
          </a:p>
          <a:p>
            <a:pPr marL="414640" marR="1571148">
              <a:lnSpc>
                <a:spcPts val="2868"/>
              </a:lnSpc>
              <a:spcBef>
                <a:spcPts val="4"/>
              </a:spcBef>
            </a:pPr>
            <a:r>
              <a:rPr sz="1588" spc="-9" dirty="0">
                <a:latin typeface="Courier New"/>
                <a:cs typeface="Courier New"/>
              </a:rPr>
              <a:t>/* Executable section is here */  Exception</a:t>
            </a:r>
            <a:endParaRPr sz="1588">
              <a:latin typeface="Courier New"/>
              <a:cs typeface="Courier New"/>
            </a:endParaRPr>
          </a:p>
          <a:p>
            <a:pPr marL="414640">
              <a:spcBef>
                <a:spcPts val="702"/>
              </a:spcBef>
            </a:pPr>
            <a:r>
              <a:rPr sz="1588" spc="-9" dirty="0">
                <a:latin typeface="Courier New"/>
                <a:cs typeface="Courier New"/>
              </a:rPr>
              <a:t>/* Exception section </a:t>
            </a:r>
            <a:r>
              <a:rPr sz="1588" spc="-4" dirty="0">
                <a:latin typeface="Courier New"/>
                <a:cs typeface="Courier New"/>
              </a:rPr>
              <a:t>is </a:t>
            </a:r>
            <a:r>
              <a:rPr sz="1588" spc="-9" dirty="0">
                <a:latin typeface="Courier New"/>
                <a:cs typeface="Courier New"/>
              </a:rPr>
              <a:t>here</a:t>
            </a:r>
            <a:r>
              <a:rPr sz="1588" spc="-31" dirty="0">
                <a:latin typeface="Courier New"/>
                <a:cs typeface="Courier New"/>
              </a:rPr>
              <a:t> </a:t>
            </a:r>
            <a:r>
              <a:rPr sz="1588" spc="-9" dirty="0">
                <a:latin typeface="Courier New"/>
                <a:cs typeface="Courier New"/>
              </a:rPr>
              <a:t>*/</a:t>
            </a:r>
            <a:endParaRPr sz="1588">
              <a:latin typeface="Courier New"/>
              <a:cs typeface="Courier New"/>
            </a:endParaRPr>
          </a:p>
          <a:p>
            <a:pPr marL="414640">
              <a:spcBef>
                <a:spcPts val="966"/>
              </a:spcBef>
            </a:pPr>
            <a:r>
              <a:rPr sz="1588" spc="-4" dirty="0">
                <a:latin typeface="Courier New"/>
                <a:cs typeface="Courier New"/>
              </a:rPr>
              <a:t>END</a:t>
            </a:r>
            <a:r>
              <a:rPr sz="1588" spc="-18" dirty="0">
                <a:latin typeface="Courier New"/>
                <a:cs typeface="Courier New"/>
              </a:rPr>
              <a:t> </a:t>
            </a:r>
            <a:r>
              <a:rPr sz="1588" spc="-9" dirty="0">
                <a:latin typeface="Courier New"/>
                <a:cs typeface="Courier New"/>
              </a:rPr>
              <a:t>[</a:t>
            </a:r>
            <a:r>
              <a:rPr sz="1588" i="1" spc="-9" dirty="0">
                <a:latin typeface="Courier New"/>
                <a:cs typeface="Courier New"/>
              </a:rPr>
              <a:t>procedure_name</a:t>
            </a:r>
            <a:r>
              <a:rPr sz="1588" spc="-9" dirty="0">
                <a:latin typeface="Courier New"/>
                <a:cs typeface="Courier New"/>
              </a:rPr>
              <a:t>]</a:t>
            </a:r>
            <a:endParaRPr sz="1588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966546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4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dirty="0"/>
              <a:t>SET SERVEROUT ON;</a:t>
            </a:r>
          </a:p>
          <a:p>
            <a:pPr marL="0" indent="0">
              <a:buNone/>
            </a:pPr>
            <a:r>
              <a:rPr lang="en-US" sz="2600" dirty="0"/>
              <a:t>CREATE OR REPLACE PROCEDURE </a:t>
            </a:r>
            <a:r>
              <a:rPr lang="en-US" sz="2600" dirty="0" err="1"/>
              <a:t>procPrintHelloWorld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IS</a:t>
            </a:r>
          </a:p>
          <a:p>
            <a:pPr marL="0" indent="0">
              <a:buNone/>
            </a:pPr>
            <a:r>
              <a:rPr lang="en-US" sz="2600" dirty="0"/>
              <a:t>BEGIN</a:t>
            </a:r>
          </a:p>
          <a:p>
            <a:pPr marL="0" indent="0">
              <a:buNone/>
            </a:pPr>
            <a:r>
              <a:rPr lang="en-US" sz="2600" dirty="0"/>
              <a:t>  </a:t>
            </a:r>
            <a:r>
              <a:rPr lang="en-US" sz="2600" dirty="0" smtClean="0"/>
              <a:t>  </a:t>
            </a:r>
            <a:r>
              <a:rPr lang="en-US" sz="2600" dirty="0"/>
              <a:t>DBMS_OUTPUT.PUT_LINE('Hello World!');</a:t>
            </a:r>
          </a:p>
          <a:p>
            <a:pPr marL="0" indent="0">
              <a:buNone/>
            </a:pPr>
            <a:r>
              <a:rPr lang="en-US" sz="2600" dirty="0" smtClean="0"/>
              <a:t>END</a:t>
            </a:r>
            <a:r>
              <a:rPr lang="en-US" sz="2600" dirty="0"/>
              <a:t>;</a:t>
            </a:r>
          </a:p>
          <a:p>
            <a:pPr marL="0" indent="0">
              <a:buNone/>
            </a:pPr>
            <a:r>
              <a:rPr lang="en-US" sz="2600" dirty="0" smtClean="0"/>
              <a:t>/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IN" sz="2600" dirty="0" smtClean="0"/>
              <a:t>For Executing the above procedure:</a:t>
            </a:r>
          </a:p>
          <a:p>
            <a:pPr marL="0" indent="0">
              <a:buNone/>
            </a:pPr>
            <a:r>
              <a:rPr lang="en-IN" sz="2600" dirty="0">
                <a:solidFill>
                  <a:srgbClr val="FF0000"/>
                </a:solidFill>
              </a:rPr>
              <a:t>e</a:t>
            </a:r>
            <a:r>
              <a:rPr lang="en-IN" sz="2600" dirty="0" smtClean="0">
                <a:solidFill>
                  <a:srgbClr val="FF0000"/>
                </a:solidFill>
              </a:rPr>
              <a:t>xec</a:t>
            </a:r>
            <a:r>
              <a:rPr lang="en-IN" sz="2600" dirty="0" smtClean="0"/>
              <a:t> </a:t>
            </a:r>
            <a:r>
              <a:rPr lang="en-US" sz="2600" dirty="0" err="1" smtClean="0"/>
              <a:t>procPrintHelloWorld</a:t>
            </a:r>
            <a:r>
              <a:rPr lang="en-US" sz="2600" dirty="0" smtClean="0"/>
              <a:t>;</a:t>
            </a:r>
          </a:p>
          <a:p>
            <a:pPr marL="0" indent="0">
              <a:buNone/>
            </a:pPr>
            <a:endParaRPr lang="en-US" sz="2600" dirty="0" smtClean="0"/>
          </a:p>
        </p:txBody>
      </p:sp>
    </p:spTree>
    <p:extLst>
      <p:ext uri="{BB962C8B-B14F-4D97-AF65-F5344CB8AC3E}">
        <p14:creationId xmlns:p14="http://schemas.microsoft.com/office/powerpoint/2010/main" val="3551389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764704"/>
            <a:ext cx="7562417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500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5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 dirty="0" err="1"/>
              <a:t>e</a:t>
            </a:r>
            <a:r>
              <a:rPr lang="en-US" b="1" u="sng" dirty="0" err="1" smtClean="0"/>
              <a:t>g_input.sql</a:t>
            </a:r>
            <a:endParaRPr lang="en-US" b="1" u="sng" dirty="0" smtClean="0"/>
          </a:p>
          <a:p>
            <a:pPr marL="0" indent="0">
              <a:buNone/>
            </a:pPr>
            <a:r>
              <a:rPr lang="en-US" dirty="0" smtClean="0"/>
              <a:t>CREATE </a:t>
            </a:r>
            <a:r>
              <a:rPr lang="en-US" dirty="0"/>
              <a:t>OR REPLACE PROCEDURE </a:t>
            </a:r>
            <a:r>
              <a:rPr lang="en-US" dirty="0" err="1"/>
              <a:t>procOneINParameter</a:t>
            </a:r>
            <a:r>
              <a:rPr lang="en-US" dirty="0"/>
              <a:t>(param1 IN VARCHAR2)</a:t>
            </a:r>
          </a:p>
          <a:p>
            <a:pPr marL="0" indent="0">
              <a:buNone/>
            </a:pPr>
            <a:r>
              <a:rPr lang="en-US" dirty="0"/>
              <a:t>IS</a:t>
            </a:r>
          </a:p>
          <a:p>
            <a:pPr marL="0" indent="0">
              <a:buNone/>
            </a:pPr>
            <a:r>
              <a:rPr lang="en-US" dirty="0"/>
              <a:t>BEGIN</a:t>
            </a:r>
          </a:p>
          <a:p>
            <a:pPr marL="0" indent="0">
              <a:buNone/>
            </a:pPr>
            <a:r>
              <a:rPr lang="en-US" dirty="0"/>
              <a:t>    DBMS_OUTPUT.PUT_LINE('Welcome ' || param1);</a:t>
            </a:r>
          </a:p>
          <a:p>
            <a:pPr marL="0" indent="0">
              <a:buNone/>
            </a:pPr>
            <a:r>
              <a:rPr lang="en-US" dirty="0"/>
              <a:t>END;</a:t>
            </a:r>
          </a:p>
          <a:p>
            <a:pPr marL="0" indent="0">
              <a:buNone/>
            </a:pPr>
            <a:r>
              <a:rPr lang="en-US" dirty="0"/>
              <a:t>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9541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052736"/>
            <a:ext cx="7584492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40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6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 err="1"/>
              <a:t>e</a:t>
            </a:r>
            <a:r>
              <a:rPr lang="en-US" b="1" u="sng" dirty="0" err="1" smtClean="0"/>
              <a:t>g_out.sql</a:t>
            </a:r>
            <a:endParaRPr lang="en-US" b="1" u="sng" dirty="0" smtClean="0"/>
          </a:p>
          <a:p>
            <a:pPr marL="0" indent="0">
              <a:buNone/>
            </a:pPr>
            <a:r>
              <a:rPr lang="en-US" dirty="0" smtClean="0"/>
              <a:t>CREATE </a:t>
            </a:r>
            <a:r>
              <a:rPr lang="en-US" dirty="0"/>
              <a:t>OR REPLACE PROCEDURE </a:t>
            </a:r>
            <a:r>
              <a:rPr lang="en-US" dirty="0" err="1"/>
              <a:t>procOneOUTParameter</a:t>
            </a:r>
            <a:r>
              <a:rPr lang="en-US" dirty="0"/>
              <a:t>(outParam1 OUT VARCHAR2)</a:t>
            </a:r>
          </a:p>
          <a:p>
            <a:pPr marL="0" indent="0">
              <a:buNone/>
            </a:pPr>
            <a:r>
              <a:rPr lang="en-US" dirty="0"/>
              <a:t>IS</a:t>
            </a:r>
          </a:p>
          <a:p>
            <a:pPr marL="0" indent="0">
              <a:buNone/>
            </a:pPr>
            <a:r>
              <a:rPr lang="en-US" dirty="0"/>
              <a:t>BEGIN</a:t>
            </a:r>
          </a:p>
          <a:p>
            <a:pPr marL="0" indent="0">
              <a:buNone/>
            </a:pPr>
            <a:r>
              <a:rPr lang="en-US" dirty="0" smtClean="0"/>
              <a:t>outParam1 </a:t>
            </a:r>
            <a:r>
              <a:rPr lang="en-US" dirty="0"/>
              <a:t>:= 'Hello </a:t>
            </a:r>
            <a:r>
              <a:rPr lang="en-US" dirty="0" err="1"/>
              <a:t>Balasundaram</a:t>
            </a:r>
            <a:r>
              <a:rPr lang="en-US" dirty="0"/>
              <a:t> will be the output of this procedure';</a:t>
            </a:r>
          </a:p>
          <a:p>
            <a:pPr marL="0" indent="0">
              <a:buNone/>
            </a:pPr>
            <a:r>
              <a:rPr lang="en-US" dirty="0" smtClean="0"/>
              <a:t>END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5563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u="sng" dirty="0" err="1"/>
              <a:t>c</a:t>
            </a:r>
            <a:r>
              <a:rPr lang="en-IN" b="1" u="sng" dirty="0" err="1" smtClean="0"/>
              <a:t>all_eg_out.sql</a:t>
            </a:r>
            <a:endParaRPr lang="en-IN" b="1" u="sng" dirty="0" smtClean="0"/>
          </a:p>
          <a:p>
            <a:pPr marL="0" indent="0">
              <a:buNone/>
            </a:pPr>
            <a:r>
              <a:rPr lang="en-IN" dirty="0" smtClean="0"/>
              <a:t>DECLARE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v_output</a:t>
            </a:r>
            <a:r>
              <a:rPr lang="en-IN" dirty="0"/>
              <a:t> VARCHAR2(100);</a:t>
            </a:r>
          </a:p>
          <a:p>
            <a:pPr marL="0" indent="0">
              <a:buNone/>
            </a:pPr>
            <a:r>
              <a:rPr lang="en-IN" dirty="0"/>
              <a:t>BEGIN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procOneOUTParameter</a:t>
            </a:r>
            <a:r>
              <a:rPr lang="en-IN" dirty="0"/>
              <a:t>(</a:t>
            </a:r>
            <a:r>
              <a:rPr lang="en-IN" dirty="0" err="1"/>
              <a:t>v_output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DBMS_OUTPUT.PUT_LINE(</a:t>
            </a:r>
            <a:r>
              <a:rPr lang="en-IN" dirty="0" err="1"/>
              <a:t>v_output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END;</a:t>
            </a:r>
          </a:p>
          <a:p>
            <a:pPr marL="0" indent="0">
              <a:buNone/>
            </a:pPr>
            <a:r>
              <a:rPr lang="en-IN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574040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38" y="1700808"/>
            <a:ext cx="8097070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0824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7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 err="1" smtClean="0"/>
              <a:t>e</a:t>
            </a:r>
            <a:r>
              <a:rPr lang="en-US" b="1" u="sng" dirty="0" err="1" smtClean="0"/>
              <a:t>g_inout.sql</a:t>
            </a:r>
            <a:endParaRPr lang="en-US" b="1" u="sng" dirty="0" smtClean="0"/>
          </a:p>
          <a:p>
            <a:pPr marL="0" indent="0">
              <a:buNone/>
            </a:pPr>
            <a:r>
              <a:rPr lang="en-US" dirty="0" smtClean="0"/>
              <a:t>CREATE </a:t>
            </a:r>
            <a:r>
              <a:rPr lang="en-US" dirty="0"/>
              <a:t>OR REPLACE PROCEDURE </a:t>
            </a:r>
            <a:r>
              <a:rPr lang="en-US" dirty="0" err="1"/>
              <a:t>procOneINOUTParameter</a:t>
            </a:r>
            <a:r>
              <a:rPr lang="en-US" dirty="0"/>
              <a:t>(</a:t>
            </a:r>
            <a:r>
              <a:rPr lang="en-US" dirty="0" err="1"/>
              <a:t>param</a:t>
            </a:r>
            <a:r>
              <a:rPr lang="en-US" dirty="0"/>
              <a:t> IN OUT VARCHAR2)</a:t>
            </a:r>
          </a:p>
          <a:p>
            <a:pPr marL="0" indent="0">
              <a:buNone/>
            </a:pPr>
            <a:r>
              <a:rPr lang="en-US" dirty="0"/>
              <a:t>IS</a:t>
            </a:r>
          </a:p>
          <a:p>
            <a:pPr marL="0" indent="0">
              <a:buNone/>
            </a:pPr>
            <a:r>
              <a:rPr lang="en-US" dirty="0"/>
              <a:t>BEGIN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param</a:t>
            </a:r>
            <a:r>
              <a:rPr lang="en-US" dirty="0"/>
              <a:t> := 'Hello World INOUT parameter ' || </a:t>
            </a:r>
            <a:r>
              <a:rPr lang="en-US" dirty="0" err="1"/>
              <a:t>param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END;</a:t>
            </a:r>
          </a:p>
          <a:p>
            <a:pPr marL="0" indent="0">
              <a:buNone/>
            </a:pPr>
            <a:r>
              <a:rPr lang="en-US" dirty="0"/>
              <a:t>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858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u="sng" dirty="0" err="1"/>
              <a:t>c</a:t>
            </a:r>
            <a:r>
              <a:rPr lang="en-US" b="1" u="sng" dirty="0" err="1" smtClean="0"/>
              <a:t>all_eg_inout.sql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DECLARE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v_var</a:t>
            </a:r>
            <a:r>
              <a:rPr lang="en-IN" dirty="0"/>
              <a:t> VARCHAR2(100) := '</a:t>
            </a:r>
            <a:r>
              <a:rPr lang="en-IN" dirty="0" err="1"/>
              <a:t>Balasundaram</a:t>
            </a:r>
            <a:r>
              <a:rPr lang="en-IN" dirty="0"/>
              <a:t>';</a:t>
            </a:r>
          </a:p>
          <a:p>
            <a:pPr marL="0" indent="0">
              <a:buNone/>
            </a:pPr>
            <a:r>
              <a:rPr lang="en-IN" dirty="0"/>
              <a:t>BEGIN</a:t>
            </a:r>
          </a:p>
          <a:p>
            <a:pPr marL="0" indent="0">
              <a:buNone/>
            </a:pPr>
            <a:r>
              <a:rPr lang="en-IN" dirty="0" smtClean="0"/>
              <a:t>  DBMS_OUTPUT.PUT_LINE(</a:t>
            </a:r>
            <a:r>
              <a:rPr lang="en-IN" dirty="0"/>
              <a:t>'</a:t>
            </a:r>
            <a:r>
              <a:rPr lang="en-IN" dirty="0" smtClean="0"/>
              <a:t>before: </a:t>
            </a:r>
            <a:r>
              <a:rPr lang="en-IN" dirty="0"/>
              <a:t>'</a:t>
            </a:r>
            <a:r>
              <a:rPr lang="en-IN" dirty="0" smtClean="0"/>
              <a:t>||</a:t>
            </a:r>
            <a:r>
              <a:rPr lang="en-IN" dirty="0" err="1" smtClean="0"/>
              <a:t>v_var</a:t>
            </a:r>
            <a:r>
              <a:rPr lang="en-IN" dirty="0"/>
              <a:t>);  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</a:t>
            </a:r>
            <a:r>
              <a:rPr lang="en-IN" dirty="0" err="1" smtClean="0"/>
              <a:t>procOneINOUTParameter</a:t>
            </a:r>
            <a:r>
              <a:rPr lang="en-IN" dirty="0" smtClean="0"/>
              <a:t>(</a:t>
            </a:r>
            <a:r>
              <a:rPr lang="en-IN" dirty="0" err="1" smtClean="0"/>
              <a:t>v_var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/>
              <a:t>DBMS_OUTPUT.PUT_LINE</a:t>
            </a:r>
            <a:r>
              <a:rPr lang="en-IN" dirty="0" smtClean="0"/>
              <a:t>(‘after: </a:t>
            </a:r>
            <a:r>
              <a:rPr lang="en-IN" dirty="0"/>
              <a:t>'||</a:t>
            </a:r>
            <a:r>
              <a:rPr lang="en-IN" dirty="0" err="1"/>
              <a:t>v_var</a:t>
            </a:r>
            <a:r>
              <a:rPr lang="en-IN" dirty="0"/>
              <a:t>);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END;</a:t>
            </a:r>
          </a:p>
          <a:p>
            <a:pPr marL="0" indent="0">
              <a:buNone/>
            </a:pPr>
            <a:r>
              <a:rPr lang="en-IN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0587386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980728"/>
            <a:ext cx="7479035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079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0556" y="1177963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90556" y="1181997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7879" y="1411941"/>
            <a:ext cx="7194176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2" y="0"/>
                </a:lnTo>
              </a:path>
            </a:pathLst>
          </a:custGeom>
          <a:ln w="76199">
            <a:solidFill>
              <a:srgbClr val="CCECFF"/>
            </a:solidFill>
          </a:ln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7879" y="1479176"/>
            <a:ext cx="7328647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2" y="0"/>
                </a:lnTo>
              </a:path>
            </a:pathLst>
          </a:custGeom>
          <a:ln w="76199">
            <a:solidFill>
              <a:srgbClr val="98CCFF"/>
            </a:solidFill>
          </a:ln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13148" y="786206"/>
            <a:ext cx="6653378" cy="445356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lang="en-IN" spc="-4" dirty="0" smtClean="0"/>
              <a:t>EXAMPLE 8: </a:t>
            </a:r>
            <a:r>
              <a:rPr spc="-4" dirty="0" smtClean="0"/>
              <a:t>Passing Parameters</a:t>
            </a:r>
            <a:endParaRPr spc="-4" dirty="0"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933147" y="1540993"/>
            <a:ext cx="5468951" cy="3413028"/>
          </a:xfrm>
          <a:prstGeom prst="rect">
            <a:avLst/>
          </a:prstGeom>
        </p:spPr>
        <p:txBody>
          <a:bodyPr vert="horz" wrap="square" lIns="0" tIns="115421" rIns="0" bIns="0" rtlCol="0">
            <a:spAutoFit/>
          </a:bodyPr>
          <a:lstStyle/>
          <a:p>
            <a:pPr marL="11206">
              <a:spcBef>
                <a:spcPts val="909"/>
              </a:spcBef>
            </a:pPr>
            <a:r>
              <a:rPr spc="-4" dirty="0"/>
              <a:t>Example </a:t>
            </a:r>
            <a:r>
              <a:rPr dirty="0"/>
              <a:t>of a </a:t>
            </a:r>
            <a:r>
              <a:rPr spc="-4" dirty="0"/>
              <a:t>procedure with</a:t>
            </a:r>
            <a:r>
              <a:rPr spc="-13" dirty="0"/>
              <a:t> </a:t>
            </a:r>
            <a:r>
              <a:rPr spc="-4" dirty="0"/>
              <a:t>parameter:</a:t>
            </a:r>
          </a:p>
          <a:p>
            <a:pPr marL="1624940" marR="4483" indent="-1210300">
              <a:lnSpc>
                <a:spcPts val="2868"/>
              </a:lnSpc>
              <a:spcBef>
                <a:spcPts val="115"/>
              </a:spcBef>
            </a:pPr>
            <a:r>
              <a:rPr lang="en-US" spc="-9" dirty="0">
                <a:latin typeface="Courier New"/>
                <a:cs typeface="Courier New"/>
              </a:rPr>
              <a:t>CREATE OR REPLACE PROCEDURE CALC_BONUS (EMP_ID IN NUMBER,</a:t>
            </a:r>
          </a:p>
          <a:p>
            <a:pPr marL="1624940" marR="4483" indent="-1210300">
              <a:lnSpc>
                <a:spcPts val="2868"/>
              </a:lnSpc>
              <a:spcBef>
                <a:spcPts val="115"/>
              </a:spcBef>
            </a:pPr>
            <a:r>
              <a:rPr lang="en-US" spc="-9" dirty="0">
                <a:latin typeface="Courier New"/>
                <a:cs typeface="Courier New"/>
              </a:rPr>
              <a:t>BONUS OUT NUMBER) IS</a:t>
            </a:r>
          </a:p>
          <a:p>
            <a:pPr marL="1624940" marR="4483" indent="-1210300">
              <a:lnSpc>
                <a:spcPts val="2868"/>
              </a:lnSpc>
              <a:spcBef>
                <a:spcPts val="115"/>
              </a:spcBef>
            </a:pPr>
            <a:r>
              <a:rPr lang="en-US" spc="-9" dirty="0">
                <a:latin typeface="Courier New"/>
                <a:cs typeface="Courier New"/>
              </a:rPr>
              <a:t>JOB EMPLOYEE.JOB%TYPE;  BEGIN</a:t>
            </a:r>
          </a:p>
          <a:p>
            <a:pPr marL="1624940" marR="4483" indent="-1210300">
              <a:lnSpc>
                <a:spcPts val="2868"/>
              </a:lnSpc>
              <a:spcBef>
                <a:spcPts val="115"/>
              </a:spcBef>
            </a:pPr>
            <a:r>
              <a:rPr lang="en-US" spc="-9" dirty="0">
                <a:latin typeface="Courier New"/>
                <a:cs typeface="Courier New"/>
              </a:rPr>
              <a:t>SELECT SALARY*0.10 INTO BONUS FROM EMPLOYEE WHERE EMP_NO = EMP_ID;</a:t>
            </a:r>
          </a:p>
          <a:p>
            <a:pPr marL="1624940" marR="4483" indent="-1210300">
              <a:lnSpc>
                <a:spcPts val="2868"/>
              </a:lnSpc>
              <a:spcBef>
                <a:spcPts val="115"/>
              </a:spcBef>
            </a:pPr>
            <a:r>
              <a:rPr lang="en-US" spc="-9" dirty="0">
                <a:latin typeface="Courier New"/>
                <a:cs typeface="Courier New"/>
              </a:rPr>
              <a:t>END CALC_BONUS;</a:t>
            </a:r>
          </a:p>
          <a:p>
            <a:pPr marL="1624940" marR="4483" indent="-1210300">
              <a:lnSpc>
                <a:spcPts val="2868"/>
              </a:lnSpc>
              <a:spcBef>
                <a:spcPts val="115"/>
              </a:spcBef>
            </a:pPr>
            <a:r>
              <a:rPr lang="en-US" spc="-9" dirty="0">
                <a:latin typeface="Courier New"/>
                <a:cs typeface="Courier New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8760378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0556" y="1177963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/>
          <p:nvPr/>
        </p:nvSpPr>
        <p:spPr>
          <a:xfrm>
            <a:off x="1090556" y="1181997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537879" y="1411941"/>
            <a:ext cx="7194176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2" y="0"/>
                </a:lnTo>
              </a:path>
            </a:pathLst>
          </a:custGeom>
          <a:ln w="76199">
            <a:solidFill>
              <a:srgbClr val="CCECF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/>
          <p:nvPr/>
        </p:nvSpPr>
        <p:spPr>
          <a:xfrm>
            <a:off x="537879" y="1479176"/>
            <a:ext cx="7328647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2" y="0"/>
                </a:lnTo>
              </a:path>
            </a:pathLst>
          </a:custGeom>
          <a:ln w="76199">
            <a:solidFill>
              <a:srgbClr val="98CCF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68271" y="404655"/>
            <a:ext cx="6733392" cy="687858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spc="-4" dirty="0"/>
              <a:t>Passing Parameters</a:t>
            </a:r>
            <a:r>
              <a:rPr spc="-53" dirty="0"/>
              <a:t> </a:t>
            </a:r>
            <a:r>
              <a:rPr spc="-4" dirty="0"/>
              <a:t>(Contd.)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42500" y="1539243"/>
            <a:ext cx="3842497" cy="3925162"/>
          </a:xfrm>
          <a:prstGeom prst="rect">
            <a:avLst/>
          </a:prstGeom>
        </p:spPr>
        <p:txBody>
          <a:bodyPr vert="horz" wrap="square" lIns="0" tIns="42022" rIns="0" bIns="0" rtlCol="0">
            <a:spAutoFit/>
          </a:bodyPr>
          <a:lstStyle/>
          <a:p>
            <a:pPr marL="11206">
              <a:spcBef>
                <a:spcPts val="331"/>
              </a:spcBef>
            </a:pPr>
            <a:r>
              <a:rPr sz="1588" spc="-4" dirty="0">
                <a:latin typeface="Arial"/>
                <a:cs typeface="Arial"/>
              </a:rPr>
              <a:t>Executing the</a:t>
            </a:r>
            <a:r>
              <a:rPr sz="1588" spc="-9" dirty="0">
                <a:latin typeface="Arial"/>
                <a:cs typeface="Arial"/>
              </a:rPr>
              <a:t> </a:t>
            </a:r>
            <a:r>
              <a:rPr sz="1588" spc="-4" dirty="0">
                <a:latin typeface="Arial"/>
                <a:cs typeface="Arial"/>
              </a:rPr>
              <a:t>procedure</a:t>
            </a:r>
            <a:r>
              <a:rPr sz="1588" spc="-4" dirty="0" smtClean="0">
                <a:latin typeface="Arial"/>
                <a:cs typeface="Arial"/>
              </a:rPr>
              <a:t>:</a:t>
            </a:r>
            <a:endParaRPr lang="en-IN" sz="1588" spc="-4" dirty="0" smtClean="0">
              <a:latin typeface="Arial"/>
              <a:cs typeface="Arial"/>
            </a:endParaRPr>
          </a:p>
          <a:p>
            <a:pPr marL="11206">
              <a:spcBef>
                <a:spcPts val="331"/>
              </a:spcBef>
            </a:pPr>
            <a:r>
              <a:rPr lang="en-IN" sz="1588" spc="-4" dirty="0">
                <a:latin typeface="Arial"/>
                <a:cs typeface="Arial"/>
              </a:rPr>
              <a:t>set </a:t>
            </a:r>
            <a:r>
              <a:rPr lang="en-IN" sz="1588" spc="-4" dirty="0" err="1">
                <a:latin typeface="Arial"/>
                <a:cs typeface="Arial"/>
              </a:rPr>
              <a:t>serverout</a:t>
            </a:r>
            <a:r>
              <a:rPr lang="en-IN" sz="1588" spc="-4" dirty="0">
                <a:latin typeface="Arial"/>
                <a:cs typeface="Arial"/>
              </a:rPr>
              <a:t> on;</a:t>
            </a:r>
          </a:p>
          <a:p>
            <a:pPr marL="11206">
              <a:spcBef>
                <a:spcPts val="331"/>
              </a:spcBef>
            </a:pPr>
            <a:r>
              <a:rPr lang="en-IN" sz="1588" spc="-4" dirty="0">
                <a:latin typeface="Arial"/>
                <a:cs typeface="Arial"/>
              </a:rPr>
              <a:t>DECLARE</a:t>
            </a:r>
          </a:p>
          <a:p>
            <a:pPr marL="11206">
              <a:spcBef>
                <a:spcPts val="331"/>
              </a:spcBef>
            </a:pPr>
            <a:r>
              <a:rPr lang="en-IN" sz="1588" spc="-4" dirty="0">
                <a:latin typeface="Arial"/>
                <a:cs typeface="Arial"/>
              </a:rPr>
              <a:t>BON NUMBER;  </a:t>
            </a:r>
          </a:p>
          <a:p>
            <a:pPr marL="11206">
              <a:spcBef>
                <a:spcPts val="331"/>
              </a:spcBef>
            </a:pPr>
            <a:r>
              <a:rPr lang="en-IN" sz="1588" spc="-4" dirty="0">
                <a:latin typeface="Arial"/>
                <a:cs typeface="Arial"/>
              </a:rPr>
              <a:t>ECODE NUMBER;  </a:t>
            </a:r>
          </a:p>
          <a:p>
            <a:pPr marL="11206">
              <a:spcBef>
                <a:spcPts val="331"/>
              </a:spcBef>
            </a:pPr>
            <a:r>
              <a:rPr lang="en-IN" sz="1588" spc="-4" dirty="0">
                <a:latin typeface="Arial"/>
                <a:cs typeface="Arial"/>
              </a:rPr>
              <a:t>BEGIN</a:t>
            </a:r>
          </a:p>
          <a:p>
            <a:pPr marL="11206">
              <a:spcBef>
                <a:spcPts val="331"/>
              </a:spcBef>
            </a:pPr>
            <a:r>
              <a:rPr lang="en-IN" sz="1588" spc="-4" dirty="0">
                <a:latin typeface="Arial"/>
                <a:cs typeface="Arial"/>
              </a:rPr>
              <a:t>ECODE := &amp;EMPLOYEE_NO;  </a:t>
            </a:r>
          </a:p>
          <a:p>
            <a:pPr marL="11206">
              <a:spcBef>
                <a:spcPts val="331"/>
              </a:spcBef>
            </a:pPr>
            <a:r>
              <a:rPr lang="en-IN" sz="1588" spc="-4" dirty="0">
                <a:latin typeface="Arial"/>
                <a:cs typeface="Arial"/>
              </a:rPr>
              <a:t>CALC_BONUS(ECODE, BON);  </a:t>
            </a:r>
          </a:p>
          <a:p>
            <a:pPr marL="11206">
              <a:spcBef>
                <a:spcPts val="331"/>
              </a:spcBef>
            </a:pPr>
            <a:r>
              <a:rPr lang="en-IN" sz="1588" spc="-4" dirty="0">
                <a:latin typeface="Arial"/>
                <a:cs typeface="Arial"/>
              </a:rPr>
              <a:t>DBMS_OUTPUT.PUT_LINE('The Bonus for the employee' ||ECODE || ' is' || BON);</a:t>
            </a:r>
          </a:p>
          <a:p>
            <a:pPr marL="11206">
              <a:spcBef>
                <a:spcPts val="331"/>
              </a:spcBef>
            </a:pPr>
            <a:r>
              <a:rPr lang="en-IN" sz="1588" spc="-4" dirty="0">
                <a:latin typeface="Arial"/>
                <a:cs typeface="Arial"/>
              </a:rPr>
              <a:t>END;</a:t>
            </a:r>
          </a:p>
          <a:p>
            <a:pPr marL="11206">
              <a:spcBef>
                <a:spcPts val="331"/>
              </a:spcBef>
            </a:pPr>
            <a:r>
              <a:rPr lang="en-IN" sz="1588" spc="-4" dirty="0">
                <a:latin typeface="Arial"/>
                <a:cs typeface="Arial"/>
              </a:rPr>
              <a:t>/</a:t>
            </a:r>
          </a:p>
          <a:p>
            <a:pPr marL="11206">
              <a:spcBef>
                <a:spcPts val="331"/>
              </a:spcBef>
            </a:pPr>
            <a:endParaRPr lang="en-IN" sz="1588" spc="-4" dirty="0">
              <a:latin typeface="Arial"/>
              <a:cs typeface="Arial"/>
            </a:endParaRPr>
          </a:p>
          <a:p>
            <a:pPr marL="11206">
              <a:spcBef>
                <a:spcPts val="331"/>
              </a:spcBef>
            </a:pPr>
            <a:endParaRPr sz="1588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19447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764704"/>
            <a:ext cx="7776864" cy="444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3183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0556" y="1177963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/>
          <p:nvPr/>
        </p:nvSpPr>
        <p:spPr>
          <a:xfrm>
            <a:off x="1090556" y="1181997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537879" y="1411941"/>
            <a:ext cx="7194176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2" y="0"/>
                </a:lnTo>
              </a:path>
            </a:pathLst>
          </a:custGeom>
          <a:ln w="76199">
            <a:solidFill>
              <a:srgbClr val="CCECF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/>
          <p:nvPr/>
        </p:nvSpPr>
        <p:spPr>
          <a:xfrm>
            <a:off x="537879" y="1479176"/>
            <a:ext cx="7328647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2" y="0"/>
                </a:lnTo>
              </a:path>
            </a:pathLst>
          </a:custGeom>
          <a:ln w="76199">
            <a:solidFill>
              <a:srgbClr val="98CCF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2822" y="-41331"/>
            <a:ext cx="7751340" cy="1364967"/>
          </a:xfrm>
          <a:prstGeom prst="rect">
            <a:avLst/>
          </a:prstGeom>
        </p:spPr>
        <p:txBody>
          <a:bodyPr vert="horz" wrap="square" lIns="0" tIns="10646" rIns="0" bIns="0" rtlCol="0" anchor="ctr">
            <a:spAutoFit/>
          </a:bodyPr>
          <a:lstStyle/>
          <a:p>
            <a:pPr marL="11206">
              <a:spcBef>
                <a:spcPts val="84"/>
              </a:spcBef>
            </a:pPr>
            <a:r>
              <a:rPr lang="en-IN" spc="-4" dirty="0" smtClean="0"/>
              <a:t>Example : 9 Insert using procedures</a:t>
            </a:r>
            <a:endParaRPr spc="-4" dirty="0"/>
          </a:p>
        </p:txBody>
      </p:sp>
      <p:sp>
        <p:nvSpPr>
          <p:cNvPr id="10" name="object 10"/>
          <p:cNvSpPr txBox="1"/>
          <p:nvPr/>
        </p:nvSpPr>
        <p:spPr>
          <a:xfrm>
            <a:off x="742500" y="1463267"/>
            <a:ext cx="7131984" cy="4867023"/>
          </a:xfrm>
          <a:prstGeom prst="rect">
            <a:avLst/>
          </a:prstGeom>
        </p:spPr>
        <p:txBody>
          <a:bodyPr vert="horz" wrap="square" lIns="0" tIns="137272" rIns="0" bIns="0" rtlCol="0">
            <a:spAutoFit/>
          </a:bodyPr>
          <a:lstStyle/>
          <a:p>
            <a:pPr marL="11206">
              <a:spcBef>
                <a:spcPts val="1081"/>
              </a:spcBef>
            </a:pPr>
            <a:r>
              <a:rPr lang="en-IN" sz="1588" spc="53" dirty="0">
                <a:latin typeface="Arial"/>
                <a:cs typeface="Arial"/>
              </a:rPr>
              <a:t>CREATE OR REPLACE PROCEDURE </a:t>
            </a:r>
            <a:r>
              <a:rPr lang="en-IN" sz="1588" spc="53" dirty="0" err="1">
                <a:latin typeface="Arial"/>
                <a:cs typeface="Arial"/>
              </a:rPr>
              <a:t>insertDBUSER</a:t>
            </a:r>
            <a:r>
              <a:rPr lang="en-IN" sz="1588" spc="53" dirty="0">
                <a:latin typeface="Arial"/>
                <a:cs typeface="Arial"/>
              </a:rPr>
              <a:t>(</a:t>
            </a:r>
          </a:p>
          <a:p>
            <a:pPr marL="11206">
              <a:spcBef>
                <a:spcPts val="1081"/>
              </a:spcBef>
            </a:pPr>
            <a:r>
              <a:rPr lang="en-IN" sz="1588" spc="53" dirty="0">
                <a:latin typeface="Arial"/>
                <a:cs typeface="Arial"/>
              </a:rPr>
              <a:t>	   </a:t>
            </a:r>
            <a:r>
              <a:rPr lang="en-IN" sz="1588" spc="53" dirty="0" err="1">
                <a:latin typeface="Arial"/>
                <a:cs typeface="Arial"/>
              </a:rPr>
              <a:t>p_userid</a:t>
            </a:r>
            <a:r>
              <a:rPr lang="en-IN" sz="1588" spc="53" dirty="0">
                <a:latin typeface="Arial"/>
                <a:cs typeface="Arial"/>
              </a:rPr>
              <a:t> IN DBUSER.USER_ID%TYPE,</a:t>
            </a:r>
          </a:p>
          <a:p>
            <a:pPr marL="11206">
              <a:spcBef>
                <a:spcPts val="1081"/>
              </a:spcBef>
            </a:pPr>
            <a:r>
              <a:rPr lang="en-IN" sz="1588" spc="53" dirty="0">
                <a:latin typeface="Arial"/>
                <a:cs typeface="Arial"/>
              </a:rPr>
              <a:t>	   </a:t>
            </a:r>
            <a:r>
              <a:rPr lang="en-IN" sz="1588" spc="53" dirty="0" err="1">
                <a:latin typeface="Arial"/>
                <a:cs typeface="Arial"/>
              </a:rPr>
              <a:t>p_username</a:t>
            </a:r>
            <a:r>
              <a:rPr lang="en-IN" sz="1588" spc="53" dirty="0">
                <a:latin typeface="Arial"/>
                <a:cs typeface="Arial"/>
              </a:rPr>
              <a:t> IN DBUSER.USERNAME%TYPE,</a:t>
            </a:r>
          </a:p>
          <a:p>
            <a:pPr marL="11206">
              <a:spcBef>
                <a:spcPts val="1081"/>
              </a:spcBef>
            </a:pPr>
            <a:r>
              <a:rPr lang="en-IN" sz="1588" spc="53" dirty="0">
                <a:latin typeface="Arial"/>
                <a:cs typeface="Arial"/>
              </a:rPr>
              <a:t>	   </a:t>
            </a:r>
            <a:r>
              <a:rPr lang="en-IN" sz="1588" spc="53" dirty="0" err="1">
                <a:latin typeface="Arial"/>
                <a:cs typeface="Arial"/>
              </a:rPr>
              <a:t>p_createdby</a:t>
            </a:r>
            <a:r>
              <a:rPr lang="en-IN" sz="1588" spc="53" dirty="0">
                <a:latin typeface="Arial"/>
                <a:cs typeface="Arial"/>
              </a:rPr>
              <a:t> IN DBUSER.CREATED_BY%TYPE,</a:t>
            </a:r>
          </a:p>
          <a:p>
            <a:pPr marL="11206">
              <a:spcBef>
                <a:spcPts val="1081"/>
              </a:spcBef>
            </a:pPr>
            <a:r>
              <a:rPr lang="en-IN" sz="1588" spc="53" dirty="0">
                <a:latin typeface="Arial"/>
                <a:cs typeface="Arial"/>
              </a:rPr>
              <a:t>	   </a:t>
            </a:r>
            <a:r>
              <a:rPr lang="en-IN" sz="1588" spc="53" dirty="0" err="1">
                <a:latin typeface="Arial"/>
                <a:cs typeface="Arial"/>
              </a:rPr>
              <a:t>p_date</a:t>
            </a:r>
            <a:r>
              <a:rPr lang="en-IN" sz="1588" spc="53" dirty="0">
                <a:latin typeface="Arial"/>
                <a:cs typeface="Arial"/>
              </a:rPr>
              <a:t> IN DBUSER.CREATED_DATE%TYPE)</a:t>
            </a:r>
          </a:p>
          <a:p>
            <a:pPr marL="11206">
              <a:spcBef>
                <a:spcPts val="1081"/>
              </a:spcBef>
            </a:pPr>
            <a:r>
              <a:rPr lang="en-IN" sz="1588" spc="53" dirty="0">
                <a:latin typeface="Arial"/>
                <a:cs typeface="Arial"/>
              </a:rPr>
              <a:t>IS</a:t>
            </a:r>
          </a:p>
          <a:p>
            <a:pPr marL="11206">
              <a:spcBef>
                <a:spcPts val="1081"/>
              </a:spcBef>
            </a:pPr>
            <a:r>
              <a:rPr lang="en-IN" sz="1588" spc="53" dirty="0">
                <a:latin typeface="Arial"/>
                <a:cs typeface="Arial"/>
              </a:rPr>
              <a:t>BEGIN</a:t>
            </a:r>
          </a:p>
          <a:p>
            <a:pPr marL="11206">
              <a:spcBef>
                <a:spcPts val="1081"/>
              </a:spcBef>
            </a:pPr>
            <a:r>
              <a:rPr lang="en-IN" sz="1588" spc="53" dirty="0">
                <a:latin typeface="Arial"/>
                <a:cs typeface="Arial"/>
              </a:rPr>
              <a:t>  INSERT INTO DBUSER ("USER_ID", "USERNAME", "CREATED_BY", "CREATED_DATE") </a:t>
            </a:r>
          </a:p>
          <a:p>
            <a:pPr marL="11206">
              <a:spcBef>
                <a:spcPts val="1081"/>
              </a:spcBef>
            </a:pPr>
            <a:r>
              <a:rPr lang="en-IN" sz="1588" spc="53" dirty="0">
                <a:latin typeface="Arial"/>
                <a:cs typeface="Arial"/>
              </a:rPr>
              <a:t>  VALUES (</a:t>
            </a:r>
            <a:r>
              <a:rPr lang="en-IN" sz="1588" spc="53" dirty="0" err="1">
                <a:latin typeface="Arial"/>
                <a:cs typeface="Arial"/>
              </a:rPr>
              <a:t>p_userid</a:t>
            </a:r>
            <a:r>
              <a:rPr lang="en-IN" sz="1588" spc="53" dirty="0">
                <a:latin typeface="Arial"/>
                <a:cs typeface="Arial"/>
              </a:rPr>
              <a:t>, </a:t>
            </a:r>
            <a:r>
              <a:rPr lang="en-IN" sz="1588" spc="53" dirty="0" err="1">
                <a:latin typeface="Arial"/>
                <a:cs typeface="Arial"/>
              </a:rPr>
              <a:t>p_username,p_createdby</a:t>
            </a:r>
            <a:r>
              <a:rPr lang="en-IN" sz="1588" spc="53" dirty="0">
                <a:latin typeface="Arial"/>
                <a:cs typeface="Arial"/>
              </a:rPr>
              <a:t>, </a:t>
            </a:r>
            <a:r>
              <a:rPr lang="en-IN" sz="1588" spc="53" dirty="0" err="1">
                <a:latin typeface="Arial"/>
                <a:cs typeface="Arial"/>
              </a:rPr>
              <a:t>p_date</a:t>
            </a:r>
            <a:r>
              <a:rPr lang="en-IN" sz="1588" spc="53" dirty="0">
                <a:latin typeface="Arial"/>
                <a:cs typeface="Arial"/>
              </a:rPr>
              <a:t>);</a:t>
            </a:r>
          </a:p>
          <a:p>
            <a:pPr marL="11206">
              <a:spcBef>
                <a:spcPts val="1081"/>
              </a:spcBef>
            </a:pPr>
            <a:r>
              <a:rPr lang="en-IN" sz="1588" spc="53" dirty="0">
                <a:latin typeface="Arial"/>
                <a:cs typeface="Arial"/>
              </a:rPr>
              <a:t>  COMMIT;</a:t>
            </a:r>
          </a:p>
          <a:p>
            <a:pPr marL="11206">
              <a:spcBef>
                <a:spcPts val="1081"/>
              </a:spcBef>
            </a:pPr>
            <a:r>
              <a:rPr lang="en-IN" sz="1588" spc="53" dirty="0">
                <a:latin typeface="Arial"/>
                <a:cs typeface="Arial"/>
              </a:rPr>
              <a:t>END;</a:t>
            </a:r>
          </a:p>
          <a:p>
            <a:pPr marL="11206">
              <a:spcBef>
                <a:spcPts val="1081"/>
              </a:spcBef>
            </a:pPr>
            <a:r>
              <a:rPr lang="en-IN" sz="1588" spc="53" dirty="0">
                <a:latin typeface="Arial"/>
                <a:cs typeface="Arial"/>
              </a:rPr>
              <a:t>/</a:t>
            </a:r>
            <a:endParaRPr sz="1588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1517264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0556" y="1177963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90556" y="1181997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7879" y="1411941"/>
            <a:ext cx="7194176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2" y="0"/>
                </a:lnTo>
              </a:path>
            </a:pathLst>
          </a:custGeom>
          <a:ln w="76199">
            <a:solidFill>
              <a:srgbClr val="CCECFF"/>
            </a:solidFill>
          </a:ln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7879" y="1479176"/>
            <a:ext cx="7328647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2" y="0"/>
                </a:lnTo>
              </a:path>
            </a:pathLst>
          </a:custGeom>
          <a:ln w="76199">
            <a:solidFill>
              <a:srgbClr val="98CCFF"/>
            </a:solidFill>
          </a:ln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13148" y="786206"/>
            <a:ext cx="1775012" cy="445356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pc="-4" dirty="0"/>
              <a:t>Exc</a:t>
            </a:r>
            <a:r>
              <a:rPr spc="-9" dirty="0"/>
              <a:t>ep</a:t>
            </a:r>
            <a:r>
              <a:rPr spc="-4" dirty="0"/>
              <a:t>t</a:t>
            </a:r>
            <a:r>
              <a:rPr spc="-9" dirty="0"/>
              <a:t>ion</a:t>
            </a:r>
            <a:r>
              <a:rPr spc="-4" dirty="0"/>
              <a:t>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42501" y="1707332"/>
            <a:ext cx="7473763" cy="114194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221" indent="-302575" defTabSz="806867">
              <a:spcBef>
                <a:spcPts val="88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Oracle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raises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ERRORS whenever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any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abnormal situation arises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in a</a:t>
            </a:r>
            <a:r>
              <a:rPr sz="1588" spc="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PL/SQL</a:t>
            </a:r>
            <a:endParaRPr sz="1588">
              <a:solidFill>
                <a:prstClr val="black"/>
              </a:solidFill>
              <a:latin typeface="Arial"/>
              <a:cs typeface="Arial"/>
            </a:endParaRPr>
          </a:p>
          <a:p>
            <a:pPr marL="313781" defTabSz="806867">
              <a:spcBef>
                <a:spcPts val="1332"/>
              </a:spcBef>
            </a:pP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block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and performs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an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illegal termination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of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execution of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the</a:t>
            </a:r>
            <a:r>
              <a:rPr sz="1588" spc="-1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program.</a:t>
            </a:r>
            <a:endParaRPr sz="1588">
              <a:solidFill>
                <a:prstClr val="black"/>
              </a:solidFill>
              <a:latin typeface="Arial"/>
              <a:cs typeface="Arial"/>
            </a:endParaRPr>
          </a:p>
          <a:p>
            <a:pPr defTabSz="806867"/>
            <a:endParaRPr sz="15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13221" indent="-302575" defTabSz="806867"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PL/SQL traps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and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responds to errors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using an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architecture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of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exception</a:t>
            </a:r>
            <a:r>
              <a:rPr sz="1588" spc="4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handler.</a:t>
            </a:r>
            <a:endParaRPr sz="1588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4672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0556" y="1177963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90556" y="1181997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7879" y="1411941"/>
            <a:ext cx="7194176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2" y="0"/>
                </a:lnTo>
              </a:path>
            </a:pathLst>
          </a:custGeom>
          <a:ln w="76199">
            <a:solidFill>
              <a:srgbClr val="CCECFF"/>
            </a:solidFill>
          </a:ln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7879" y="1479176"/>
            <a:ext cx="7328647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2" y="0"/>
                </a:lnTo>
              </a:path>
            </a:pathLst>
          </a:custGeom>
          <a:ln w="76199">
            <a:solidFill>
              <a:srgbClr val="98CCFF"/>
            </a:solidFill>
          </a:ln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13148" y="786206"/>
            <a:ext cx="3167342" cy="445356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pc="-4" dirty="0"/>
              <a:t>Exceptions</a:t>
            </a:r>
            <a:r>
              <a:rPr spc="-62" dirty="0"/>
              <a:t> </a:t>
            </a:r>
            <a:r>
              <a:rPr spc="-4" dirty="0"/>
              <a:t>(Contd.)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42500" y="1747001"/>
            <a:ext cx="7445188" cy="315942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221" indent="-302575" defTabSz="806867">
              <a:spcBef>
                <a:spcPts val="88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Occurrence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of any error in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PL/SQL, whether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a system error or an</a:t>
            </a:r>
            <a:r>
              <a:rPr sz="1588" spc="-2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application</a:t>
            </a:r>
            <a:endParaRPr sz="1588">
              <a:solidFill>
                <a:prstClr val="black"/>
              </a:solidFill>
              <a:latin typeface="Arial"/>
              <a:cs typeface="Arial"/>
            </a:endParaRPr>
          </a:p>
          <a:p>
            <a:pPr defTabSz="806867">
              <a:spcBef>
                <a:spcPts val="44"/>
              </a:spcBef>
              <a:buFont typeface="Arial"/>
              <a:buChar char="•"/>
            </a:pPr>
            <a:endParaRPr sz="1456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13781" defTabSz="806867"/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error, an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exception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is</a:t>
            </a:r>
            <a:r>
              <a:rPr sz="1588" spc="-22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raised.</a:t>
            </a:r>
            <a:endParaRPr sz="1588">
              <a:solidFill>
                <a:prstClr val="black"/>
              </a:solidFill>
              <a:latin typeface="Arial"/>
              <a:cs typeface="Arial"/>
            </a:endParaRPr>
          </a:p>
          <a:p>
            <a:pPr marL="313781" marR="4483" indent="-302575" defTabSz="806867">
              <a:lnSpc>
                <a:spcPct val="190300"/>
              </a:lnSpc>
              <a:spcBef>
                <a:spcPts val="393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This halts the processing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in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current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PL/SQL block's execution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and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control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is 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transferred to the separate exception section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of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the program,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if one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exists, to  handle the</a:t>
            </a:r>
            <a:r>
              <a:rPr sz="1588" spc="-1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exception.</a:t>
            </a:r>
            <a:endParaRPr sz="1588">
              <a:solidFill>
                <a:prstClr val="black"/>
              </a:solidFill>
              <a:latin typeface="Arial"/>
              <a:cs typeface="Arial"/>
            </a:endParaRPr>
          </a:p>
          <a:p>
            <a:pPr defTabSz="806867">
              <a:spcBef>
                <a:spcPts val="31"/>
              </a:spcBef>
              <a:buFont typeface="Arial"/>
              <a:buChar char="•"/>
            </a:pPr>
            <a:endParaRPr sz="1809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13221" indent="-302575" defTabSz="806867"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The control never returns to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that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block after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you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finish handling the</a:t>
            </a:r>
            <a:r>
              <a:rPr sz="1588" spc="5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exception.</a:t>
            </a:r>
            <a:endParaRPr sz="1588">
              <a:solidFill>
                <a:prstClr val="black"/>
              </a:solidFill>
              <a:latin typeface="Arial"/>
              <a:cs typeface="Arial"/>
            </a:endParaRPr>
          </a:p>
          <a:p>
            <a:pPr defTabSz="806867">
              <a:spcBef>
                <a:spcPts val="49"/>
              </a:spcBef>
            </a:pPr>
            <a:endParaRPr sz="1456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13781" defTabSz="806867"/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Instead, control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is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passed to the enclosing block,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if any.</a:t>
            </a:r>
            <a:endParaRPr sz="1588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18972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0556" y="1177963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90556" y="1181997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7879" y="1411941"/>
            <a:ext cx="7194176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2" y="0"/>
                </a:lnTo>
              </a:path>
            </a:pathLst>
          </a:custGeom>
          <a:ln w="76199">
            <a:solidFill>
              <a:srgbClr val="CCECFF"/>
            </a:solidFill>
          </a:ln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7879" y="1479176"/>
            <a:ext cx="7328647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2" y="0"/>
                </a:lnTo>
              </a:path>
            </a:pathLst>
          </a:custGeom>
          <a:ln w="76199">
            <a:solidFill>
              <a:srgbClr val="98CCFF"/>
            </a:solidFill>
          </a:ln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13148" y="786206"/>
            <a:ext cx="3167342" cy="445356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pc="-4" dirty="0"/>
              <a:t>Exceptions</a:t>
            </a:r>
            <a:r>
              <a:rPr spc="-62" dirty="0"/>
              <a:t> </a:t>
            </a:r>
            <a:r>
              <a:rPr spc="-4" dirty="0"/>
              <a:t>(Contd.)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42500" y="1545966"/>
            <a:ext cx="7585822" cy="366718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marR="4483" indent="-302575" defTabSz="806867">
              <a:lnSpc>
                <a:spcPct val="150600"/>
              </a:lnSpc>
              <a:spcBef>
                <a:spcPts val="88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When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an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exception is raised, control passes to the exception section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of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block. 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The exception section consists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of handlers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for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all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the</a:t>
            </a:r>
            <a:r>
              <a:rPr sz="1588" spc="-1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exceptions.</a:t>
            </a:r>
            <a:endParaRPr sz="1588">
              <a:solidFill>
                <a:prstClr val="black"/>
              </a:solidFill>
              <a:latin typeface="Arial"/>
              <a:cs typeface="Arial"/>
            </a:endParaRPr>
          </a:p>
          <a:p>
            <a:pPr defTabSz="806867">
              <a:spcBef>
                <a:spcPts val="31"/>
              </a:spcBef>
            </a:pPr>
            <a:endParaRPr sz="1456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14640" defTabSz="806867">
              <a:spcBef>
                <a:spcPts val="4"/>
              </a:spcBef>
            </a:pPr>
            <a:r>
              <a:rPr sz="1588" spc="-9" dirty="0">
                <a:solidFill>
                  <a:prstClr val="black"/>
                </a:solidFill>
                <a:latin typeface="Courier New"/>
                <a:cs typeface="Courier New"/>
              </a:rPr>
              <a:t>EXCEPTION</a:t>
            </a:r>
            <a:endParaRPr sz="1588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18073" marR="3868477" indent="-151287" defTabSz="806867">
              <a:lnSpc>
                <a:spcPct val="200800"/>
              </a:lnSpc>
            </a:pPr>
            <a:r>
              <a:rPr sz="1588" spc="-9" dirty="0">
                <a:solidFill>
                  <a:prstClr val="black"/>
                </a:solidFill>
                <a:latin typeface="Courier New"/>
                <a:cs typeface="Courier New"/>
              </a:rPr>
              <a:t>WHEN exception_name THEN  sequence_of_statements1;</a:t>
            </a:r>
            <a:endParaRPr sz="1588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18073" marR="3868477" indent="-151287" defTabSz="806867">
              <a:lnSpc>
                <a:spcPts val="3830"/>
              </a:lnSpc>
              <a:spcBef>
                <a:spcPts val="441"/>
              </a:spcBef>
            </a:pPr>
            <a:r>
              <a:rPr sz="1588" spc="-9" dirty="0">
                <a:solidFill>
                  <a:prstClr val="black"/>
                </a:solidFill>
                <a:latin typeface="Courier New"/>
                <a:cs typeface="Courier New"/>
              </a:rPr>
              <a:t>WHEN exception_name THEN  sequence_of_statements1;</a:t>
            </a:r>
            <a:endParaRPr sz="1588">
              <a:solidFill>
                <a:prstClr val="black"/>
              </a:solidFill>
              <a:latin typeface="Courier New"/>
              <a:cs typeface="Courier New"/>
            </a:endParaRPr>
          </a:p>
          <a:p>
            <a:pPr defTabSz="806867">
              <a:spcBef>
                <a:spcPts val="49"/>
              </a:spcBef>
            </a:pPr>
            <a:endParaRPr sz="1279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14640" defTabSz="806867"/>
            <a:r>
              <a:rPr sz="1588" spc="-9" dirty="0">
                <a:solidFill>
                  <a:prstClr val="black"/>
                </a:solidFill>
                <a:latin typeface="Courier New"/>
                <a:cs typeface="Courier New"/>
              </a:rPr>
              <a:t>END;</a:t>
            </a:r>
            <a:endParaRPr sz="1588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411251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0556" y="1177963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90556" y="1181997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7879" y="1411941"/>
            <a:ext cx="7194176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2" y="0"/>
                </a:lnTo>
              </a:path>
            </a:pathLst>
          </a:custGeom>
          <a:ln w="76199">
            <a:solidFill>
              <a:srgbClr val="CCECFF"/>
            </a:solidFill>
          </a:ln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7879" y="1479176"/>
            <a:ext cx="7328647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2" y="0"/>
                </a:lnTo>
              </a:path>
            </a:pathLst>
          </a:custGeom>
          <a:ln w="76199">
            <a:solidFill>
              <a:srgbClr val="98CCFF"/>
            </a:solidFill>
          </a:ln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13148" y="786206"/>
            <a:ext cx="3167342" cy="445356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pc="-4" dirty="0"/>
              <a:t>Exceptions</a:t>
            </a:r>
            <a:r>
              <a:rPr spc="-62" dirty="0"/>
              <a:t> </a:t>
            </a:r>
            <a:r>
              <a:rPr spc="-4" dirty="0"/>
              <a:t>(Contd.)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42501" y="1785998"/>
            <a:ext cx="2398619" cy="139624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defTabSz="806867">
              <a:spcBef>
                <a:spcPts val="88"/>
              </a:spcBef>
            </a:pPr>
            <a:r>
              <a:rPr sz="1588" spc="66" dirty="0">
                <a:solidFill>
                  <a:prstClr val="black"/>
                </a:solidFill>
                <a:latin typeface="Arial"/>
                <a:cs typeface="Arial"/>
              </a:rPr>
              <a:t>Exceptions</a:t>
            </a:r>
            <a:r>
              <a:rPr sz="1588" spc="-1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8" spc="71" dirty="0">
                <a:solidFill>
                  <a:prstClr val="black"/>
                </a:solidFill>
                <a:latin typeface="Arial"/>
                <a:cs typeface="Arial"/>
              </a:rPr>
              <a:t>types:</a:t>
            </a:r>
            <a:endParaRPr sz="1588">
              <a:solidFill>
                <a:prstClr val="black"/>
              </a:solidFill>
              <a:latin typeface="Arial"/>
              <a:cs typeface="Arial"/>
            </a:endParaRPr>
          </a:p>
          <a:p>
            <a:pPr defTabSz="806867">
              <a:spcBef>
                <a:spcPts val="44"/>
              </a:spcBef>
            </a:pPr>
            <a:endParaRPr sz="2118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13221" indent="-302575" defTabSz="806867">
              <a:spcBef>
                <a:spcPts val="4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Predefined</a:t>
            </a:r>
            <a:r>
              <a:rPr sz="1588" spc="-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exception</a:t>
            </a:r>
            <a:endParaRPr sz="1588">
              <a:solidFill>
                <a:prstClr val="black"/>
              </a:solidFill>
              <a:latin typeface="Arial"/>
              <a:cs typeface="Arial"/>
            </a:endParaRPr>
          </a:p>
          <a:p>
            <a:pPr defTabSz="806867">
              <a:spcBef>
                <a:spcPts val="44"/>
              </a:spcBef>
              <a:buFont typeface="Arial"/>
              <a:buChar char="•"/>
            </a:pPr>
            <a:endParaRPr sz="2118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13221" indent="-302575" defTabSz="806867"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User-defined</a:t>
            </a:r>
            <a:r>
              <a:rPr sz="1588" spc="-2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exception</a:t>
            </a:r>
            <a:endParaRPr sz="1588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71608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0556" y="1177963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90556" y="1181997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7879" y="1411941"/>
            <a:ext cx="7194176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2" y="0"/>
                </a:lnTo>
              </a:path>
            </a:pathLst>
          </a:custGeom>
          <a:ln w="76199">
            <a:solidFill>
              <a:srgbClr val="CCECFF"/>
            </a:solidFill>
          </a:ln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7879" y="1479176"/>
            <a:ext cx="7328647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2" y="0"/>
                </a:lnTo>
              </a:path>
            </a:pathLst>
          </a:custGeom>
          <a:ln w="76199">
            <a:solidFill>
              <a:srgbClr val="98CCFF"/>
            </a:solidFill>
          </a:ln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13148" y="786206"/>
            <a:ext cx="3604932" cy="445356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pc="-4" dirty="0"/>
              <a:t>Predefined</a:t>
            </a:r>
            <a:r>
              <a:rPr spc="-75" dirty="0"/>
              <a:t> </a:t>
            </a:r>
            <a:r>
              <a:rPr spc="-4" dirty="0"/>
              <a:t>Exceptions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42500" y="1785997"/>
            <a:ext cx="7486650" cy="360409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221" indent="-302575" defTabSz="806867">
              <a:spcBef>
                <a:spcPts val="88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Some exceptions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are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already defined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in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Oracle called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pre-defined</a:t>
            </a:r>
            <a:r>
              <a:rPr sz="1588" spc="7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exception.</a:t>
            </a:r>
            <a:endParaRPr sz="1588">
              <a:solidFill>
                <a:prstClr val="black"/>
              </a:solidFill>
              <a:latin typeface="Arial"/>
              <a:cs typeface="Arial"/>
            </a:endParaRPr>
          </a:p>
          <a:p>
            <a:pPr defTabSz="806867">
              <a:spcBef>
                <a:spcPts val="18"/>
              </a:spcBef>
              <a:buFont typeface="Arial"/>
              <a:buChar char="•"/>
            </a:pPr>
            <a:endParaRPr sz="1941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13221" indent="-302575" defTabSz="806867"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Mostly they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are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generated with the </a:t>
            </a:r>
            <a:r>
              <a:rPr sz="1588" spc="-9" dirty="0">
                <a:solidFill>
                  <a:prstClr val="black"/>
                </a:solidFill>
                <a:latin typeface="Courier New"/>
                <a:cs typeface="Courier New"/>
              </a:rPr>
              <a:t>SELECT</a:t>
            </a:r>
            <a:r>
              <a:rPr sz="1588" spc="-516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statement.</a:t>
            </a:r>
            <a:endParaRPr sz="1588">
              <a:solidFill>
                <a:prstClr val="black"/>
              </a:solidFill>
              <a:latin typeface="Arial"/>
              <a:cs typeface="Arial"/>
            </a:endParaRPr>
          </a:p>
          <a:p>
            <a:pPr defTabSz="806867">
              <a:spcBef>
                <a:spcPts val="26"/>
              </a:spcBef>
              <a:buFont typeface="Arial"/>
              <a:buChar char="•"/>
            </a:pPr>
            <a:endParaRPr sz="2338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13221" indent="-302575" defTabSz="806867"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They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are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raised implicitly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1588" spc="-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runtime.</a:t>
            </a:r>
            <a:endParaRPr sz="1588">
              <a:solidFill>
                <a:prstClr val="black"/>
              </a:solidFill>
              <a:latin typeface="Arial"/>
              <a:cs typeface="Arial"/>
            </a:endParaRPr>
          </a:p>
          <a:p>
            <a:pPr defTabSz="806867">
              <a:spcBef>
                <a:spcPts val="49"/>
              </a:spcBef>
              <a:buFont typeface="Arial"/>
              <a:buChar char="•"/>
            </a:pPr>
            <a:endParaRPr sz="2118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13221" indent="-302575" defTabSz="806867"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Every exception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is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associated with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a error</a:t>
            </a:r>
            <a:r>
              <a:rPr sz="1588" spc="-1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code.</a:t>
            </a:r>
            <a:endParaRPr sz="1588">
              <a:solidFill>
                <a:prstClr val="black"/>
              </a:solidFill>
              <a:latin typeface="Arial"/>
              <a:cs typeface="Arial"/>
            </a:endParaRPr>
          </a:p>
          <a:p>
            <a:pPr marL="313781" marR="395588" indent="-302575" defTabSz="806867">
              <a:lnSpc>
                <a:spcPts val="4244"/>
              </a:lnSpc>
              <a:spcBef>
                <a:spcPts val="441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These exceptions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are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already defined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in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sz="1588" spc="-9" dirty="0">
                <a:solidFill>
                  <a:prstClr val="black"/>
                </a:solidFill>
                <a:latin typeface="Courier New"/>
                <a:cs typeface="Courier New"/>
              </a:rPr>
              <a:t>STANDARD</a:t>
            </a:r>
            <a:r>
              <a:rPr sz="1588" spc="-472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package (An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Oracle 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supplied</a:t>
            </a:r>
            <a:r>
              <a:rPr sz="1588" spc="-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package).</a:t>
            </a:r>
            <a:endParaRPr sz="1588">
              <a:solidFill>
                <a:prstClr val="black"/>
              </a:solidFill>
              <a:latin typeface="Arial"/>
              <a:cs typeface="Arial"/>
            </a:endParaRPr>
          </a:p>
          <a:p>
            <a:pPr defTabSz="806867">
              <a:spcBef>
                <a:spcPts val="22"/>
              </a:spcBef>
              <a:buFont typeface="Arial"/>
              <a:buChar char="•"/>
            </a:pPr>
            <a:endParaRPr sz="1677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13221" indent="-302575" defTabSz="806867"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The when clause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is used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to test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a system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defined</a:t>
            </a:r>
            <a:r>
              <a:rPr sz="1588" spc="-22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exception.</a:t>
            </a:r>
            <a:endParaRPr sz="1588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48940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0556" y="1177963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90556" y="1181997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7879" y="1411941"/>
            <a:ext cx="7194176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2" y="0"/>
                </a:lnTo>
              </a:path>
            </a:pathLst>
          </a:custGeom>
          <a:ln w="76199">
            <a:solidFill>
              <a:srgbClr val="CCECFF"/>
            </a:solidFill>
          </a:ln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7879" y="1479176"/>
            <a:ext cx="7328647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2" y="0"/>
                </a:lnTo>
              </a:path>
            </a:pathLst>
          </a:custGeom>
          <a:ln w="76199">
            <a:solidFill>
              <a:srgbClr val="98CCFF"/>
            </a:solidFill>
          </a:ln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13148" y="786206"/>
            <a:ext cx="4997824" cy="445356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pc="-4" dirty="0"/>
              <a:t>Predefined Exceptions</a:t>
            </a:r>
            <a:r>
              <a:rPr spc="-66" dirty="0"/>
              <a:t> </a:t>
            </a:r>
            <a:r>
              <a:rPr spc="-4" dirty="0"/>
              <a:t>(Contd.)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866991" y="6194348"/>
            <a:ext cx="209550" cy="350880"/>
          </a:xfrm>
          <a:prstGeom prst="rect">
            <a:avLst/>
          </a:prstGeom>
        </p:spPr>
        <p:txBody>
          <a:bodyPr vert="horz" wrap="square" lIns="0" tIns="24653" rIns="0" bIns="0" rtlCol="0">
            <a:spAutoFit/>
          </a:bodyPr>
          <a:lstStyle/>
          <a:p>
            <a:pPr marL="22413" defTabSz="806867">
              <a:spcBef>
                <a:spcPts val="194"/>
              </a:spcBef>
            </a:pPr>
            <a:fld id="{81D60167-4931-47E6-BA6A-407CBD079E47}" type="slidenum">
              <a:rPr sz="1059" dirty="0">
                <a:solidFill>
                  <a:prstClr val="black"/>
                </a:solidFill>
                <a:latin typeface="Comic Sans MS"/>
                <a:cs typeface="Comic Sans MS"/>
              </a:rPr>
              <a:pPr marL="22413" defTabSz="806867">
                <a:spcBef>
                  <a:spcPts val="194"/>
                </a:spcBef>
              </a:pPr>
              <a:t>36</a:t>
            </a:fld>
            <a:endParaRPr sz="1059" dirty="0">
              <a:solidFill>
                <a:prstClr val="black"/>
              </a:solidFill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2500" y="1521089"/>
            <a:ext cx="4179234" cy="4148450"/>
          </a:xfrm>
          <a:prstGeom prst="rect">
            <a:avLst/>
          </a:prstGeom>
        </p:spPr>
        <p:txBody>
          <a:bodyPr vert="horz" wrap="square" lIns="0" tIns="59951" rIns="0" bIns="0" rtlCol="0">
            <a:spAutoFit/>
          </a:bodyPr>
          <a:lstStyle/>
          <a:p>
            <a:pPr marL="313221" indent="-302575" defTabSz="806867">
              <a:spcBef>
                <a:spcPts val="472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CURSOR_ALREADY_OPEN (ORA</a:t>
            </a:r>
            <a:r>
              <a:rPr sz="1588" spc="-2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–6511)</a:t>
            </a:r>
            <a:endParaRPr sz="1588" dirty="0">
              <a:solidFill>
                <a:prstClr val="black"/>
              </a:solidFill>
              <a:latin typeface="Arial"/>
              <a:cs typeface="Arial"/>
            </a:endParaRPr>
          </a:p>
          <a:p>
            <a:pPr marL="313221" indent="-302575" defTabSz="806867">
              <a:spcBef>
                <a:spcPts val="388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DUP_VAL_ON_INDEX(</a:t>
            </a:r>
            <a:r>
              <a:rPr sz="1588" spc="-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ORA-00001)</a:t>
            </a:r>
            <a:endParaRPr sz="1588" dirty="0">
              <a:solidFill>
                <a:prstClr val="black"/>
              </a:solidFill>
              <a:latin typeface="Arial"/>
              <a:cs typeface="Arial"/>
            </a:endParaRPr>
          </a:p>
          <a:p>
            <a:pPr marL="313221" indent="-302575" defTabSz="806867">
              <a:spcBef>
                <a:spcPts val="393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INVALID_CURSOR(ORA-01001)</a:t>
            </a:r>
            <a:endParaRPr sz="1588" dirty="0">
              <a:solidFill>
                <a:prstClr val="black"/>
              </a:solidFill>
              <a:latin typeface="Arial"/>
              <a:cs typeface="Arial"/>
            </a:endParaRPr>
          </a:p>
          <a:p>
            <a:pPr marL="313221" indent="-302575" defTabSz="806867">
              <a:spcBef>
                <a:spcPts val="383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INVALID_NUMBER(ORA-01722)</a:t>
            </a:r>
            <a:endParaRPr sz="1588" dirty="0">
              <a:solidFill>
                <a:prstClr val="black"/>
              </a:solidFill>
              <a:latin typeface="Arial"/>
              <a:cs typeface="Arial"/>
            </a:endParaRPr>
          </a:p>
          <a:p>
            <a:pPr marL="313221" indent="-302575" defTabSz="806867">
              <a:spcBef>
                <a:spcPts val="388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LOGIN_DENIED(ORA-1017)</a:t>
            </a:r>
            <a:endParaRPr sz="1588" dirty="0">
              <a:solidFill>
                <a:prstClr val="black"/>
              </a:solidFill>
              <a:latin typeface="Arial"/>
              <a:cs typeface="Arial"/>
            </a:endParaRPr>
          </a:p>
          <a:p>
            <a:pPr marL="313221" indent="-302575" defTabSz="806867">
              <a:spcBef>
                <a:spcPts val="393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NO_DATA_FOUND(ORA-01403)</a:t>
            </a:r>
            <a:endParaRPr sz="1588" dirty="0">
              <a:solidFill>
                <a:prstClr val="black"/>
              </a:solidFill>
              <a:latin typeface="Arial"/>
              <a:cs typeface="Arial"/>
            </a:endParaRPr>
          </a:p>
          <a:p>
            <a:pPr marL="313221" indent="-302575" defTabSz="806867">
              <a:spcBef>
                <a:spcPts val="383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NOT_LOGGED_ON(ORA-01012)</a:t>
            </a:r>
            <a:endParaRPr sz="1588" dirty="0">
              <a:solidFill>
                <a:prstClr val="black"/>
              </a:solidFill>
              <a:latin typeface="Arial"/>
              <a:cs typeface="Arial"/>
            </a:endParaRPr>
          </a:p>
          <a:p>
            <a:pPr marL="313221" indent="-302575" defTabSz="806867">
              <a:spcBef>
                <a:spcPts val="388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PROGRAM_ERROR(ORA-06501)</a:t>
            </a:r>
            <a:endParaRPr sz="1588" dirty="0">
              <a:solidFill>
                <a:prstClr val="black"/>
              </a:solidFill>
              <a:latin typeface="Arial"/>
              <a:cs typeface="Arial"/>
            </a:endParaRPr>
          </a:p>
          <a:p>
            <a:pPr marL="313221" indent="-302575" defTabSz="806867">
              <a:spcBef>
                <a:spcPts val="393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ROWTYPE_MISMATCH(</a:t>
            </a:r>
            <a:endParaRPr sz="1588" dirty="0">
              <a:solidFill>
                <a:prstClr val="black"/>
              </a:solidFill>
              <a:latin typeface="Arial"/>
              <a:cs typeface="Arial"/>
            </a:endParaRPr>
          </a:p>
          <a:p>
            <a:pPr marL="313221" indent="-302575" defTabSz="806867">
              <a:spcBef>
                <a:spcPts val="383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STORAGE_ERROR(ORA-06500)</a:t>
            </a:r>
            <a:endParaRPr sz="1588" dirty="0">
              <a:solidFill>
                <a:prstClr val="black"/>
              </a:solidFill>
              <a:latin typeface="Arial"/>
              <a:cs typeface="Arial"/>
            </a:endParaRPr>
          </a:p>
          <a:p>
            <a:pPr marL="313221" indent="-302575" defTabSz="806867">
              <a:spcBef>
                <a:spcPts val="388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TIMEOUT_ON_RESOURCE(ORA-00051)</a:t>
            </a:r>
            <a:endParaRPr sz="1588" dirty="0">
              <a:solidFill>
                <a:prstClr val="black"/>
              </a:solidFill>
              <a:latin typeface="Arial"/>
              <a:cs typeface="Arial"/>
            </a:endParaRPr>
          </a:p>
          <a:p>
            <a:pPr marL="313221" indent="-302575" defTabSz="806867">
              <a:spcBef>
                <a:spcPts val="393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TOO_MANY_ROWS(ORA-01422)</a:t>
            </a:r>
            <a:endParaRPr sz="1588" dirty="0">
              <a:solidFill>
                <a:prstClr val="black"/>
              </a:solidFill>
              <a:latin typeface="Arial"/>
              <a:cs typeface="Arial"/>
            </a:endParaRPr>
          </a:p>
          <a:p>
            <a:pPr marL="313221" indent="-302575" defTabSz="806867">
              <a:spcBef>
                <a:spcPts val="383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VALUE_ERRORS(ORA_06502)</a:t>
            </a:r>
            <a:endParaRPr sz="1588" dirty="0">
              <a:solidFill>
                <a:prstClr val="black"/>
              </a:solidFill>
              <a:latin typeface="Arial"/>
              <a:cs typeface="Arial"/>
            </a:endParaRPr>
          </a:p>
          <a:p>
            <a:pPr marL="313221" indent="-302575" defTabSz="806867">
              <a:spcBef>
                <a:spcPts val="388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ZERO_DIVIDE(ORA-01476)</a:t>
            </a:r>
            <a:endParaRPr sz="1588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28923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0556" y="1177963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90556" y="1181997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7879" y="1411941"/>
            <a:ext cx="7194176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2" y="0"/>
                </a:lnTo>
              </a:path>
            </a:pathLst>
          </a:custGeom>
          <a:ln w="76199">
            <a:solidFill>
              <a:srgbClr val="CCECFF"/>
            </a:solidFill>
          </a:ln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7879" y="1479176"/>
            <a:ext cx="7328647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2" y="0"/>
                </a:lnTo>
              </a:path>
            </a:pathLst>
          </a:custGeom>
          <a:ln w="76199">
            <a:solidFill>
              <a:srgbClr val="98CCFF"/>
            </a:solidFill>
          </a:ln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13148" y="786206"/>
            <a:ext cx="4997824" cy="445356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pc="-4" dirty="0"/>
              <a:t>Predefined Exceptions</a:t>
            </a:r>
            <a:r>
              <a:rPr spc="-66" dirty="0"/>
              <a:t> </a:t>
            </a:r>
            <a:r>
              <a:rPr spc="-4" dirty="0"/>
              <a:t>(Contd.)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866991" y="6194348"/>
            <a:ext cx="209550" cy="350880"/>
          </a:xfrm>
          <a:prstGeom prst="rect">
            <a:avLst/>
          </a:prstGeom>
        </p:spPr>
        <p:txBody>
          <a:bodyPr vert="horz" wrap="square" lIns="0" tIns="24653" rIns="0" bIns="0" rtlCol="0">
            <a:spAutoFit/>
          </a:bodyPr>
          <a:lstStyle/>
          <a:p>
            <a:pPr marL="22413" defTabSz="806867">
              <a:spcBef>
                <a:spcPts val="194"/>
              </a:spcBef>
            </a:pPr>
            <a:fld id="{81D60167-4931-47E6-BA6A-407CBD079E47}" type="slidenum">
              <a:rPr sz="1059" dirty="0">
                <a:solidFill>
                  <a:prstClr val="black"/>
                </a:solidFill>
                <a:latin typeface="Comic Sans MS"/>
                <a:cs typeface="Comic Sans MS"/>
              </a:rPr>
              <a:pPr marL="22413" defTabSz="806867">
                <a:spcBef>
                  <a:spcPts val="194"/>
                </a:spcBef>
              </a:pPr>
              <a:t>37</a:t>
            </a:fld>
            <a:endParaRPr sz="1059">
              <a:solidFill>
                <a:prstClr val="black"/>
              </a:solidFill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6845" y="1662905"/>
            <a:ext cx="6256243" cy="4347714"/>
          </a:xfrm>
          <a:prstGeom prst="rect">
            <a:avLst/>
          </a:prstGeom>
        </p:spPr>
        <p:txBody>
          <a:bodyPr vert="horz" wrap="square" lIns="0" tIns="137272" rIns="0" bIns="0" rtlCol="0">
            <a:spAutoFit/>
          </a:bodyPr>
          <a:lstStyle/>
          <a:p>
            <a:pPr marL="11206" defTabSz="806867">
              <a:spcBef>
                <a:spcPts val="1081"/>
              </a:spcBef>
            </a:pPr>
            <a:r>
              <a:rPr sz="1588" spc="62" dirty="0">
                <a:solidFill>
                  <a:prstClr val="black"/>
                </a:solidFill>
                <a:latin typeface="Arial"/>
                <a:cs typeface="Arial"/>
              </a:rPr>
              <a:t>Exception</a:t>
            </a:r>
            <a:r>
              <a:rPr sz="1588" spc="-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8" spc="84" dirty="0">
                <a:solidFill>
                  <a:prstClr val="black"/>
                </a:solidFill>
                <a:latin typeface="Arial"/>
                <a:cs typeface="Arial"/>
              </a:rPr>
              <a:t>functions:</a:t>
            </a:r>
            <a:endParaRPr sz="1588" dirty="0">
              <a:solidFill>
                <a:prstClr val="black"/>
              </a:solidFill>
              <a:latin typeface="Arial"/>
              <a:cs typeface="Arial"/>
            </a:endParaRPr>
          </a:p>
          <a:p>
            <a:pPr marL="313781" indent="-302575" defTabSz="806867">
              <a:spcBef>
                <a:spcPts val="997"/>
              </a:spcBef>
              <a:buFont typeface="Courier New"/>
              <a:buChar char="•"/>
              <a:tabLst>
                <a:tab pos="313781" algn="l"/>
              </a:tabLst>
            </a:pPr>
            <a:r>
              <a:rPr sz="1588" b="1" spc="4" dirty="0">
                <a:solidFill>
                  <a:prstClr val="black"/>
                </a:solidFill>
                <a:latin typeface="Courier New"/>
                <a:cs typeface="Courier New"/>
              </a:rPr>
              <a:t>SQLCODE</a:t>
            </a:r>
            <a:r>
              <a:rPr sz="1588" spc="4" dirty="0">
                <a:solidFill>
                  <a:prstClr val="black"/>
                </a:solidFill>
                <a:latin typeface="Arial"/>
                <a:cs typeface="Arial"/>
              </a:rPr>
              <a:t>: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Returns the numeric value for the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error</a:t>
            </a:r>
            <a:r>
              <a:rPr sz="1588" spc="-1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code.</a:t>
            </a:r>
          </a:p>
          <a:p>
            <a:pPr marL="313781" indent="-302575" defTabSz="806867">
              <a:spcBef>
                <a:spcPts val="1147"/>
              </a:spcBef>
              <a:buFont typeface="Courier New"/>
              <a:buChar char="•"/>
              <a:tabLst>
                <a:tab pos="313781" algn="l"/>
              </a:tabLst>
            </a:pPr>
            <a:r>
              <a:rPr sz="1588" b="1" spc="4" dirty="0">
                <a:solidFill>
                  <a:prstClr val="black"/>
                </a:solidFill>
                <a:latin typeface="Courier New"/>
                <a:cs typeface="Courier New"/>
              </a:rPr>
              <a:t>SQLERRM</a:t>
            </a:r>
            <a:r>
              <a:rPr sz="1588" spc="4" dirty="0">
                <a:solidFill>
                  <a:prstClr val="black"/>
                </a:solidFill>
                <a:latin typeface="Arial"/>
                <a:cs typeface="Arial"/>
              </a:rPr>
              <a:t>: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Returns the </a:t>
            </a:r>
            <a:r>
              <a:rPr sz="1588" dirty="0">
                <a:solidFill>
                  <a:prstClr val="black"/>
                </a:solidFill>
                <a:latin typeface="Arial"/>
                <a:cs typeface="Arial"/>
              </a:rPr>
              <a:t>message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associated with the error</a:t>
            </a:r>
            <a:r>
              <a:rPr sz="1588" spc="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588" spc="-4" dirty="0">
                <a:solidFill>
                  <a:prstClr val="black"/>
                </a:solidFill>
                <a:latin typeface="Arial"/>
                <a:cs typeface="Arial"/>
              </a:rPr>
              <a:t>number.</a:t>
            </a:r>
            <a:endParaRPr sz="1588" dirty="0">
              <a:solidFill>
                <a:prstClr val="black"/>
              </a:solidFill>
              <a:latin typeface="Arial"/>
              <a:cs typeface="Arial"/>
            </a:endParaRPr>
          </a:p>
          <a:p>
            <a:pPr marL="313781" defTabSz="806867">
              <a:spcBef>
                <a:spcPts val="1306"/>
              </a:spcBef>
            </a:pPr>
            <a:r>
              <a:rPr sz="1588" spc="53" dirty="0">
                <a:solidFill>
                  <a:prstClr val="black"/>
                </a:solidFill>
                <a:latin typeface="Arial"/>
                <a:cs typeface="Arial"/>
              </a:rPr>
              <a:t>Example:</a:t>
            </a:r>
            <a:endParaRPr sz="1588" dirty="0">
              <a:solidFill>
                <a:prstClr val="black"/>
              </a:solidFill>
              <a:latin typeface="Arial"/>
              <a:cs typeface="Arial"/>
            </a:endParaRPr>
          </a:p>
          <a:p>
            <a:pPr marL="414640" marR="3664519" defTabSz="806867">
              <a:lnSpc>
                <a:spcPts val="3053"/>
              </a:lnSpc>
              <a:spcBef>
                <a:spcPts val="97"/>
              </a:spcBef>
            </a:pPr>
            <a:r>
              <a:rPr sz="1588" spc="-9" dirty="0">
                <a:solidFill>
                  <a:prstClr val="black"/>
                </a:solidFill>
                <a:latin typeface="Courier New"/>
                <a:cs typeface="Courier New"/>
              </a:rPr>
              <a:t>DECLARE  V_ERR_CODE</a:t>
            </a:r>
            <a:r>
              <a:rPr sz="1588" spc="-53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88" spc="-9" dirty="0">
                <a:solidFill>
                  <a:prstClr val="black"/>
                </a:solidFill>
                <a:latin typeface="Courier New"/>
                <a:cs typeface="Courier New"/>
              </a:rPr>
              <a:t>NUMBER;</a:t>
            </a:r>
            <a:endParaRPr sz="1588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14640" marR="2941701" defTabSz="806867">
              <a:lnSpc>
                <a:spcPts val="3053"/>
              </a:lnSpc>
              <a:spcBef>
                <a:spcPts val="4"/>
              </a:spcBef>
            </a:pPr>
            <a:r>
              <a:rPr sz="1588" spc="-9" dirty="0">
                <a:solidFill>
                  <a:prstClr val="black"/>
                </a:solidFill>
                <a:latin typeface="Courier New"/>
                <a:cs typeface="Courier New"/>
              </a:rPr>
              <a:t>V_ERR_TEXT VARCHAR2(255)  EXCEPTION</a:t>
            </a:r>
            <a:endParaRPr sz="1588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14640" marR="3062171" defTabSz="806867">
              <a:lnSpc>
                <a:spcPts val="3053"/>
              </a:lnSpc>
              <a:spcBef>
                <a:spcPts val="4"/>
              </a:spcBef>
            </a:pPr>
            <a:r>
              <a:rPr sz="1588" spc="-9" dirty="0">
                <a:solidFill>
                  <a:prstClr val="black"/>
                </a:solidFill>
                <a:latin typeface="Courier New"/>
                <a:cs typeface="Courier New"/>
              </a:rPr>
              <a:t>WHEN NO_DATA_FOUND THEN  V_ERR_CODE </a:t>
            </a:r>
            <a:r>
              <a:rPr sz="1588" spc="-4" dirty="0">
                <a:solidFill>
                  <a:prstClr val="black"/>
                </a:solidFill>
                <a:latin typeface="Courier New"/>
                <a:cs typeface="Courier New"/>
              </a:rPr>
              <a:t>:= </a:t>
            </a:r>
            <a:r>
              <a:rPr sz="1588" spc="-9" dirty="0">
                <a:solidFill>
                  <a:srgbClr val="FF0000"/>
                </a:solidFill>
                <a:latin typeface="Courier New"/>
                <a:cs typeface="Courier New"/>
              </a:rPr>
              <a:t>SQLCODE</a:t>
            </a:r>
            <a:r>
              <a:rPr sz="1588" spc="-9" dirty="0">
                <a:solidFill>
                  <a:prstClr val="black"/>
                </a:solidFill>
                <a:latin typeface="Courier New"/>
                <a:cs typeface="Courier New"/>
              </a:rPr>
              <a:t>;  V_ERR_TEXT </a:t>
            </a:r>
            <a:r>
              <a:rPr sz="1588" spc="-4" dirty="0">
                <a:solidFill>
                  <a:prstClr val="black"/>
                </a:solidFill>
                <a:latin typeface="Courier New"/>
                <a:cs typeface="Courier New"/>
              </a:rPr>
              <a:t>:=</a:t>
            </a:r>
            <a:r>
              <a:rPr sz="1588" spc="-44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88" spc="-9" dirty="0">
                <a:solidFill>
                  <a:srgbClr val="FF0000"/>
                </a:solidFill>
                <a:latin typeface="Courier New"/>
                <a:cs typeface="Courier New"/>
              </a:rPr>
              <a:t>SQLERRM</a:t>
            </a:r>
            <a:r>
              <a:rPr sz="1588" spc="-9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88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9907476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0556" y="1177963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90556" y="1181997"/>
            <a:ext cx="12326" cy="4482"/>
          </a:xfrm>
          <a:custGeom>
            <a:avLst/>
            <a:gdLst/>
            <a:ahLst/>
            <a:cxnLst/>
            <a:rect l="l" t="t" r="r" b="b"/>
            <a:pathLst>
              <a:path w="13969" h="5080">
                <a:moveTo>
                  <a:pt x="0" y="4572"/>
                </a:moveTo>
                <a:lnTo>
                  <a:pt x="13716" y="4572"/>
                </a:lnTo>
                <a:lnTo>
                  <a:pt x="13716" y="0"/>
                </a:lnTo>
                <a:lnTo>
                  <a:pt x="0" y="0"/>
                </a:lnTo>
                <a:lnTo>
                  <a:pt x="0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7879" y="1411941"/>
            <a:ext cx="7194176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2" y="0"/>
                </a:lnTo>
              </a:path>
            </a:pathLst>
          </a:custGeom>
          <a:ln w="76199">
            <a:solidFill>
              <a:srgbClr val="CCECFF"/>
            </a:solidFill>
          </a:ln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7879" y="1479176"/>
            <a:ext cx="7328647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2" y="0"/>
                </a:lnTo>
              </a:path>
            </a:pathLst>
          </a:custGeom>
          <a:ln w="76199">
            <a:solidFill>
              <a:srgbClr val="98CCFF"/>
            </a:solidFill>
          </a:ln>
        </p:spPr>
        <p:txBody>
          <a:bodyPr wrap="square" lIns="0" tIns="0" rIns="0" bIns="0" rtlCol="0"/>
          <a:lstStyle/>
          <a:p>
            <a:pPr defTabSz="806867"/>
            <a:endParaRPr sz="15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13148" y="786206"/>
            <a:ext cx="4997824" cy="445356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lang="en-IN" spc="-4" dirty="0" smtClean="0"/>
              <a:t>Example 10: Exceptions</a:t>
            </a:r>
            <a:endParaRPr spc="-4" dirty="0"/>
          </a:p>
        </p:txBody>
      </p:sp>
      <p:sp>
        <p:nvSpPr>
          <p:cNvPr id="12" name="object 12"/>
          <p:cNvSpPr txBox="1"/>
          <p:nvPr/>
        </p:nvSpPr>
        <p:spPr>
          <a:xfrm>
            <a:off x="7866991" y="6194348"/>
            <a:ext cx="209550" cy="350880"/>
          </a:xfrm>
          <a:prstGeom prst="rect">
            <a:avLst/>
          </a:prstGeom>
        </p:spPr>
        <p:txBody>
          <a:bodyPr vert="horz" wrap="square" lIns="0" tIns="24653" rIns="0" bIns="0" rtlCol="0">
            <a:spAutoFit/>
          </a:bodyPr>
          <a:lstStyle/>
          <a:p>
            <a:pPr marL="22413" defTabSz="806867">
              <a:spcBef>
                <a:spcPts val="194"/>
              </a:spcBef>
            </a:pPr>
            <a:fld id="{81D60167-4931-47E6-BA6A-407CBD079E47}" type="slidenum">
              <a:rPr sz="1059" dirty="0">
                <a:solidFill>
                  <a:prstClr val="black"/>
                </a:solidFill>
                <a:latin typeface="Comic Sans MS"/>
                <a:cs typeface="Comic Sans MS"/>
              </a:rPr>
              <a:pPr marL="22413" defTabSz="806867">
                <a:spcBef>
                  <a:spcPts val="194"/>
                </a:spcBef>
              </a:pPr>
              <a:t>38</a:t>
            </a:fld>
            <a:endParaRPr sz="1059">
              <a:solidFill>
                <a:prstClr val="black"/>
              </a:solidFill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2500" y="1539243"/>
            <a:ext cx="5366497" cy="2961245"/>
          </a:xfrm>
          <a:prstGeom prst="rect">
            <a:avLst/>
          </a:prstGeom>
        </p:spPr>
        <p:txBody>
          <a:bodyPr vert="horz" wrap="square" lIns="0" tIns="42022" rIns="0" bIns="0" rtlCol="0">
            <a:spAutoFit/>
          </a:bodyPr>
          <a:lstStyle/>
          <a:p>
            <a:pPr marL="11206" defTabSz="806867">
              <a:spcBef>
                <a:spcPts val="331"/>
              </a:spcBef>
            </a:pPr>
            <a:r>
              <a:rPr sz="1588" spc="53" dirty="0">
                <a:solidFill>
                  <a:prstClr val="black"/>
                </a:solidFill>
                <a:latin typeface="Arial"/>
                <a:cs typeface="Arial"/>
              </a:rPr>
              <a:t>Example:</a:t>
            </a:r>
            <a:endParaRPr sz="1588" dirty="0">
              <a:solidFill>
                <a:prstClr val="black"/>
              </a:solidFill>
              <a:latin typeface="Arial"/>
              <a:cs typeface="Arial"/>
            </a:endParaRPr>
          </a:p>
          <a:p>
            <a:pPr marL="414640" defTabSz="806867">
              <a:spcBef>
                <a:spcPts val="243"/>
              </a:spcBef>
            </a:pPr>
            <a:r>
              <a:rPr lang="en-GB" sz="1588" spc="-9" dirty="0">
                <a:solidFill>
                  <a:prstClr val="black"/>
                </a:solidFill>
                <a:latin typeface="Courier New"/>
                <a:cs typeface="Courier New"/>
              </a:rPr>
              <a:t>DECLARE</a:t>
            </a:r>
          </a:p>
          <a:p>
            <a:pPr marL="414640" defTabSz="806867">
              <a:spcBef>
                <a:spcPts val="243"/>
              </a:spcBef>
            </a:pPr>
            <a:r>
              <a:rPr lang="en-GB" sz="1588" spc="-9" dirty="0">
                <a:solidFill>
                  <a:prstClr val="black"/>
                </a:solidFill>
                <a:latin typeface="Courier New"/>
                <a:cs typeface="Courier New"/>
              </a:rPr>
              <a:t>V_NAME CUSTOMERS.NAME%TYPE;  </a:t>
            </a:r>
          </a:p>
          <a:p>
            <a:pPr marL="414640" defTabSz="806867">
              <a:spcBef>
                <a:spcPts val="243"/>
              </a:spcBef>
            </a:pPr>
            <a:r>
              <a:rPr lang="en-GB" sz="1588" spc="-9" dirty="0">
                <a:solidFill>
                  <a:prstClr val="black"/>
                </a:solidFill>
                <a:latin typeface="Courier New"/>
                <a:cs typeface="Courier New"/>
              </a:rPr>
              <a:t>BEGIN</a:t>
            </a:r>
          </a:p>
          <a:p>
            <a:pPr marL="414640" defTabSz="806867">
              <a:spcBef>
                <a:spcPts val="243"/>
              </a:spcBef>
            </a:pPr>
            <a:r>
              <a:rPr lang="en-GB" sz="1588" spc="-9" dirty="0">
                <a:solidFill>
                  <a:prstClr val="black"/>
                </a:solidFill>
                <a:latin typeface="Courier New"/>
                <a:cs typeface="Courier New"/>
              </a:rPr>
              <a:t>SELECT NAME INTO V_NAME FROM CUSTOMERS WHERE ID = &amp;ID;</a:t>
            </a:r>
          </a:p>
          <a:p>
            <a:pPr marL="414640" defTabSz="806867">
              <a:spcBef>
                <a:spcPts val="243"/>
              </a:spcBef>
            </a:pPr>
            <a:r>
              <a:rPr lang="en-GB" sz="1588" spc="-9" dirty="0">
                <a:solidFill>
                  <a:prstClr val="black"/>
                </a:solidFill>
                <a:latin typeface="Courier New"/>
                <a:cs typeface="Courier New"/>
              </a:rPr>
              <a:t>DBMS_OUTPUT.PUT_LINE(V_NAME);  </a:t>
            </a:r>
          </a:p>
          <a:p>
            <a:pPr marL="414640" defTabSz="806867">
              <a:spcBef>
                <a:spcPts val="243"/>
              </a:spcBef>
            </a:pPr>
            <a:r>
              <a:rPr lang="en-GB" sz="1588" spc="-9" dirty="0">
                <a:solidFill>
                  <a:prstClr val="black"/>
                </a:solidFill>
                <a:latin typeface="Courier New"/>
                <a:cs typeface="Courier New"/>
              </a:rPr>
              <a:t>EXCEPTION</a:t>
            </a:r>
          </a:p>
          <a:p>
            <a:pPr marL="414640" defTabSz="806867">
              <a:spcBef>
                <a:spcPts val="243"/>
              </a:spcBef>
            </a:pPr>
            <a:r>
              <a:rPr lang="en-GB" sz="1588" spc="-9" dirty="0">
                <a:solidFill>
                  <a:prstClr val="black"/>
                </a:solidFill>
                <a:latin typeface="Courier New"/>
                <a:cs typeface="Courier New"/>
              </a:rPr>
              <a:t>WHEN </a:t>
            </a:r>
            <a:r>
              <a:rPr lang="en-GB" sz="1588" spc="-9" dirty="0">
                <a:solidFill>
                  <a:srgbClr val="FF0000"/>
                </a:solidFill>
                <a:latin typeface="Courier New"/>
                <a:cs typeface="Courier New"/>
              </a:rPr>
              <a:t>NO_DATA_FOUND</a:t>
            </a:r>
            <a:r>
              <a:rPr lang="en-GB" sz="1588" spc="-9" dirty="0">
                <a:solidFill>
                  <a:prstClr val="black"/>
                </a:solidFill>
                <a:latin typeface="Courier New"/>
                <a:cs typeface="Courier New"/>
              </a:rPr>
              <a:t> THEN</a:t>
            </a:r>
          </a:p>
          <a:p>
            <a:pPr marL="414640" defTabSz="806867">
              <a:spcBef>
                <a:spcPts val="243"/>
              </a:spcBef>
            </a:pPr>
            <a:r>
              <a:rPr lang="en-GB" sz="1588" spc="-9" dirty="0">
                <a:solidFill>
                  <a:prstClr val="black"/>
                </a:solidFill>
                <a:latin typeface="Courier New"/>
                <a:cs typeface="Courier New"/>
              </a:rPr>
              <a:t>DBMS_OUTPUT.PUT_LINE(‘No Such Employee’);  </a:t>
            </a:r>
          </a:p>
          <a:p>
            <a:pPr marL="414640" defTabSz="806867">
              <a:spcBef>
                <a:spcPts val="243"/>
              </a:spcBef>
            </a:pPr>
            <a:r>
              <a:rPr lang="en-GB" sz="1588" spc="-9" dirty="0">
                <a:solidFill>
                  <a:prstClr val="black"/>
                </a:solidFill>
                <a:latin typeface="Courier New"/>
                <a:cs typeface="Courier New"/>
              </a:rPr>
              <a:t>END;</a:t>
            </a:r>
            <a:endParaRPr sz="1588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004790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1482</TotalTime>
  <Words>1572</Words>
  <Application>Microsoft Office PowerPoint</Application>
  <PresentationFormat>On-screen Show (4:3)</PresentationFormat>
  <Paragraphs>312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Arial Unicode MS</vt:lpstr>
      <vt:lpstr>Calibri</vt:lpstr>
      <vt:lpstr>Comic Sans MS</vt:lpstr>
      <vt:lpstr>Courier New</vt:lpstr>
      <vt:lpstr>Times New Roman</vt:lpstr>
      <vt:lpstr>Office Theme</vt:lpstr>
      <vt:lpstr>1_Office Theme</vt:lpstr>
      <vt:lpstr>2_Office Theme</vt:lpstr>
      <vt:lpstr>Procedures, Functions: Overview</vt:lpstr>
      <vt:lpstr>Functions</vt:lpstr>
      <vt:lpstr>FUNCTIONS</vt:lpstr>
      <vt:lpstr>Syntax</vt:lpstr>
      <vt:lpstr>Creating Functions</vt:lpstr>
      <vt:lpstr>FUNCTIONS</vt:lpstr>
      <vt:lpstr>Example 1 </vt:lpstr>
      <vt:lpstr>Calling a function</vt:lpstr>
      <vt:lpstr>Example 2</vt:lpstr>
      <vt:lpstr>Example 2</vt:lpstr>
      <vt:lpstr>Example-3</vt:lpstr>
      <vt:lpstr>Making Use Of  Functions</vt:lpstr>
      <vt:lpstr>Procedures</vt:lpstr>
      <vt:lpstr>Creating Procedures: Syntax</vt:lpstr>
      <vt:lpstr>Passing Parameters</vt:lpstr>
      <vt:lpstr>Passing Parameters (Contd.)</vt:lpstr>
      <vt:lpstr>Example 4</vt:lpstr>
      <vt:lpstr>PowerPoint Presentation</vt:lpstr>
      <vt:lpstr>Example 5</vt:lpstr>
      <vt:lpstr>PowerPoint Presentation</vt:lpstr>
      <vt:lpstr>Example 6</vt:lpstr>
      <vt:lpstr>PowerPoint Presentation</vt:lpstr>
      <vt:lpstr>PowerPoint Presentation</vt:lpstr>
      <vt:lpstr>Example 7</vt:lpstr>
      <vt:lpstr>PowerPoint Presentation</vt:lpstr>
      <vt:lpstr>PowerPoint Presentation</vt:lpstr>
      <vt:lpstr>EXAMPLE 8: Passing Parameters</vt:lpstr>
      <vt:lpstr>Passing Parameters (Contd.)</vt:lpstr>
      <vt:lpstr>PowerPoint Presentation</vt:lpstr>
      <vt:lpstr>Example : 9 Insert using procedures</vt:lpstr>
      <vt:lpstr>Exceptions</vt:lpstr>
      <vt:lpstr>Exceptions (Contd.)</vt:lpstr>
      <vt:lpstr>Exceptions (Contd.)</vt:lpstr>
      <vt:lpstr>Exceptions (Contd.)</vt:lpstr>
      <vt:lpstr>Predefined Exceptions</vt:lpstr>
      <vt:lpstr>Predefined Exceptions (Contd.)</vt:lpstr>
      <vt:lpstr>Predefined Exceptions (Contd.)</vt:lpstr>
      <vt:lpstr>Example 10: Exceptions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Sankar P</cp:lastModifiedBy>
  <cp:revision>52</cp:revision>
  <dcterms:created xsi:type="dcterms:W3CDTF">2016-11-02T23:35:06Z</dcterms:created>
  <dcterms:modified xsi:type="dcterms:W3CDTF">2026-03-09T19:15:14Z</dcterms:modified>
</cp:coreProperties>
</file>